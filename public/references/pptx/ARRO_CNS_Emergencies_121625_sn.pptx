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9" r:id="rId2"/>
    <p:sldId id="266" r:id="rId3"/>
    <p:sldId id="262" r:id="rId4"/>
    <p:sldId id="263" r:id="rId5"/>
    <p:sldId id="26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49"/>
    <p:restoredTop sz="94655"/>
  </p:normalViewPr>
  <p:slideViewPr>
    <p:cSldViewPr snapToGrid="0">
      <p:cViewPr>
        <p:scale>
          <a:sx n="89" d="100"/>
          <a:sy n="89" d="100"/>
        </p:scale>
        <p:origin x="21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EE7794-3C1E-5D43-BFDB-7266B24973A0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DBC2BB-445A-AD4C-A5FA-41DF0C154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24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9659C-7FC3-A579-7152-3CFF31D4D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04039C-7BF5-7258-FA36-E2F97D493D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AA8165-C897-7EE5-4B73-5815D2A4C8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861F5E-3EC2-0B40-594A-208A215ECB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DBC2BB-445A-AD4C-A5FA-41DF0C154F4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410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26BA4-91D4-2B29-6A6C-76504B510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233EF6-2080-46B4-27AC-EB814AFD7F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D3F059-D73B-EF35-64D6-30FA37C253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EE115C-39E0-EC68-FD2B-716C6A2A42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DBC2BB-445A-AD4C-A5FA-41DF0C154F4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5197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EBF05-3D01-8931-0803-B11CE69EC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050FB8-6819-8A9F-3CE1-AA34905982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5B691-2704-0F07-6F4A-33849F2518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8B5300-A660-8000-25E9-2D32EC2ED7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DBC2BB-445A-AD4C-A5FA-41DF0C154F4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3029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FCD2C-5828-0366-F9B7-80A088F0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7F5169-9BAA-A450-2BEC-2FFFBF9122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8AF3A3-F189-2574-FAB0-7B44F04B27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8725DB-1F6C-B8B6-3767-9019FDF83E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DBC2BB-445A-AD4C-A5FA-41DF0C154F4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9922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B11B6-4C94-64B7-8619-07110E0C6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9D2CEE-B195-6A54-09FA-62C742F884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3178D6-EF6F-9FD7-E278-BCCCBC54D9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0D212-DAD2-1631-83AD-D1CA81CC02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DBC2BB-445A-AD4C-A5FA-41DF0C154F4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923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C7AED-CAE5-5A47-1BAD-5E4AC1192F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DCCC4F-23B9-F87D-544B-FE4EC0FED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E2486-B880-B258-4FC2-B27E1BFFF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F31AA-51BE-8742-9E91-CDA99836A990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762F4-743B-1A2B-14F5-2FFDFDC27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4F19E-AF39-E3AC-8F85-8B8471070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6AA0D-31AB-3C44-BF84-057427B29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616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C32A7-5EBE-D716-8C22-3596C6373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28190-7296-D66D-C99E-C6B33C93F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2625F-3336-3F46-1CD3-EDD67E1BB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F31AA-51BE-8742-9E91-CDA99836A990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A0552-DBDE-CE85-F5C1-08CBFA0A6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E040F-3D09-A702-37AB-62A6EC332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6AA0D-31AB-3C44-BF84-057427B29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458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6ADA1-C555-6DDD-C3FF-56A2125C8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C0D16C-A7C1-7CBE-1BBD-B8BCF4BDC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5DBA8-F730-288E-91C3-70F26A63C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F31AA-51BE-8742-9E91-CDA99836A990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68151-9FD7-4B8E-9800-855898215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731AB-CEF2-23AE-B7FA-3F76F55A8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6AA0D-31AB-3C44-BF84-057427B29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289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14808-4F6F-586C-9843-4D52EE6A7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E7910-54CB-D56B-AA84-C12E197BFF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F5A6A9-161A-00A7-8D16-1D56595E1F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01C95F-B97B-24FF-43E2-D9DC3588B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F31AA-51BE-8742-9E91-CDA99836A990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355098-9EA0-37A5-2012-A5EC84D0B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4C40B9-F7DA-6F38-C4F8-BDAFC9ED2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6AA0D-31AB-3C44-BF84-057427B29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46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78AA3-B657-383E-17BF-3B8A822D0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5D4A24-A3D5-C8FB-1024-3DAFD4CAB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A59613-815C-4F79-188A-F39690D71D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F8227F-DC4F-4821-184F-C81C415B1B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52A47-C700-F1A6-C4B3-37E61DA15B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52A85E-0DB9-F142-71E5-BA3540D59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F31AA-51BE-8742-9E91-CDA99836A990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E71DD8-79DF-D992-AAB5-B3A028BAB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E74D5C-7384-5FF1-3C20-4EA056863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6AA0D-31AB-3C44-BF84-057427B29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781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BFD9D-1751-1A15-8E87-8BCEA1C94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5C13A8-B8B4-062C-142E-A694F61EF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F31AA-51BE-8742-9E91-CDA99836A990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D3EA29-B69C-A043-D26F-E99EC305D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436422-1B39-6FD7-FC8E-748D49565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6AA0D-31AB-3C44-BF84-057427B29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749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F0A0AB-7440-99A3-673E-E58B873E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F31AA-51BE-8742-9E91-CDA99836A990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D391A-5C5F-8136-404D-7B1E66CFA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57D89-84EA-7FF4-88F3-557521216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6AA0D-31AB-3C44-BF84-057427B29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651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E8D7C-259C-1D6C-6157-006795F08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22C41-6F76-A5F3-6A61-CCBA8BF83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8581E4-11BC-7110-8C2E-1DCB8DB1E2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2505E1-8D72-7F53-ADF4-B08BA3E4E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F31AA-51BE-8742-9E91-CDA99836A990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164B19-C641-DE13-3C7C-220B6B073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C6972D-CE9F-14F4-2F17-7A3336A0A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6AA0D-31AB-3C44-BF84-057427B29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47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4EAE7-AFFF-1B0D-19BC-407A72955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863D1B-7498-00A1-69CA-1CFF31BD4D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2ABDD2-8132-C016-5D09-69CB50ED7E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06A4CA-48C5-D795-F64C-B8A4B0C7E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F31AA-51BE-8742-9E91-CDA99836A990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20EB91-4AA5-808D-2DF2-E9BB6BFD0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96E37C-B4E9-7895-9532-EE3CAC150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6AA0D-31AB-3C44-BF84-057427B29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57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189D5-7250-2CB6-D899-DE50B7E3C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C12978-CD3D-B9AB-EFAB-E671636964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194BF-F0E7-97E3-F3B4-14A9DBB84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F31AA-51BE-8742-9E91-CDA99836A990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982E4-E256-5524-6353-A16E82D20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69559-B42E-2C3F-DD52-400D732A6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6AA0D-31AB-3C44-BF84-057427B29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193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84B6D2-DB60-B074-FFD8-8A0139A8B6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FB4B20-0160-207E-3B46-F98310F0DF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8A660-7A87-7782-0881-93BC37D85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F31AA-51BE-8742-9E91-CDA99836A990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70A5A-3C6E-9784-86B6-6045E974D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35767-FF27-3047-5F67-61FFAC8C6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6AA0D-31AB-3C44-BF84-057427B29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412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450AB5-546C-725B-33FE-84471606E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D95E9-02A7-A8DC-B8C4-86DCD6C45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ABC5B-0586-0056-F25D-A1058D8D89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7F31AA-51BE-8742-9E91-CDA99836A990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13CDD-37BB-9B50-37FD-3F98575863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44B0B-8792-0744-394F-79F2F7265B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36AA0D-31AB-3C44-BF84-057427B29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464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hyperlink" Target="https://www.instagram.com/p/B9rLTvUADhD/?utm_source=ig_web_copy_link" TargetMode="Externa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5CE0D-D848-D22F-BC83-E8B32C589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D3BF4E6-EDDF-EE86-D6F8-CB00440B7D4E}"/>
              </a:ext>
            </a:extLst>
          </p:cNvPr>
          <p:cNvSpPr txBox="1"/>
          <p:nvPr/>
        </p:nvSpPr>
        <p:spPr>
          <a:xfrm>
            <a:off x="2956636" y="137626"/>
            <a:ext cx="5741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Palliative Radiation for Brain Metastasis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0E7B4-5611-0F97-A70D-293BDEDF018B}"/>
              </a:ext>
            </a:extLst>
          </p:cNvPr>
          <p:cNvSpPr txBox="1"/>
          <p:nvPr/>
        </p:nvSpPr>
        <p:spPr>
          <a:xfrm>
            <a:off x="7217230" y="855490"/>
            <a:ext cx="4833652" cy="5943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Triage: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Seizures, bradycardia, hypertension, changes in vision</a:t>
            </a:r>
          </a:p>
          <a:p>
            <a:endParaRPr lang="en-US" sz="1300" b="1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Workup: </a:t>
            </a:r>
          </a:p>
          <a:p>
            <a:r>
              <a:rPr lang="en-US" sz="1300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History:</a:t>
            </a: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Headache, nausea, vomiting, seizures, focal neurologic deficits, changes in vision</a:t>
            </a:r>
          </a:p>
          <a:p>
            <a:r>
              <a:rPr lang="en-US" sz="1300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Physical:  </a:t>
            </a: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Mental status, strength/sensation, CN, Gait, </a:t>
            </a:r>
          </a:p>
          <a:p>
            <a:r>
              <a:rPr lang="en-US" sz="1300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Imaging: </a:t>
            </a: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MRI Brain + C, CT CAP (new cancer diagnosis), MRI Spine (</a:t>
            </a:r>
            <a:r>
              <a:rPr lang="en-US" sz="13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LMDsuspected</a:t>
            </a: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</a:p>
          <a:p>
            <a:endParaRPr lang="en-US" sz="13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Treatment: </a:t>
            </a:r>
          </a:p>
          <a:p>
            <a:r>
              <a:rPr lang="en-US" sz="1300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Surgery:</a:t>
            </a: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Confirm pathologic diagnosis, largest brain lesion &gt; 4 cm or mass effect -&gt; Resection if ECOG 0-2, and mass is </a:t>
            </a:r>
            <a:r>
              <a:rPr lang="en-US" sz="13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resectable</a:t>
            </a:r>
            <a:endParaRPr lang="en-US" sz="13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en-US" sz="13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n-US" sz="1300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Systemic Tx:</a:t>
            </a: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Consider high-CNS activity (e.g., EGFR, BRAF/MEKi, HER-2, ALK, etc.)</a:t>
            </a:r>
          </a:p>
          <a:p>
            <a:endParaRPr lang="en-US" sz="1300" b="1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Principles of Radiation:</a:t>
            </a:r>
          </a:p>
          <a:p>
            <a:r>
              <a:rPr lang="en-US" sz="1300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WBRT:</a:t>
            </a: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Opposed laterals/IMRT + memantine</a:t>
            </a:r>
          </a:p>
          <a:p>
            <a:r>
              <a:rPr lang="en-US" sz="1300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WBRT:</a:t>
            </a: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IMRT +/- memantine, </a:t>
            </a:r>
            <a:r>
              <a:rPr lang="en-US" sz="13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cautionin</a:t>
            </a: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SCLC, </a:t>
            </a:r>
            <a:r>
              <a:rPr lang="en-US" sz="13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lMD</a:t>
            </a: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or </a:t>
            </a:r>
            <a:r>
              <a:rPr lang="en-US" sz="13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mets</a:t>
            </a: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near hippocampus (30 Gy/10 </a:t>
            </a:r>
            <a:r>
              <a:rPr lang="en-US" sz="13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Fx</a:t>
            </a: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+ memantine</a:t>
            </a:r>
          </a:p>
          <a:p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Consider 20 Gy in 5 Fractions base on KPS </a:t>
            </a:r>
          </a:p>
          <a:p>
            <a:endParaRPr lang="en-US" sz="13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n-US" sz="1300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SRS:</a:t>
            </a: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Consider for limited metastatic disease, RTOG 90-05 dosing :</a:t>
            </a:r>
            <a:r>
              <a:rPr lang="en-US" sz="1300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≤2 cm: 20 Gy x1</a:t>
            </a:r>
            <a:r>
              <a:rPr lang="en-US" sz="13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- </a:t>
            </a: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2-3 cm: 18 Gy x1</a:t>
            </a:r>
            <a:r>
              <a:rPr lang="en-US" sz="13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- </a:t>
            </a: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3 cm: 15 Gy x1</a:t>
            </a:r>
          </a:p>
          <a:p>
            <a:endParaRPr lang="en-US" sz="13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02575" indent="-302575">
              <a:tabLst>
                <a:tab pos="403433" algn="l"/>
              </a:tabLst>
            </a:pPr>
            <a:r>
              <a:rPr lang="en-US" sz="1300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SRT: </a:t>
            </a: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25 Gy/5 fractions</a:t>
            </a:r>
            <a:r>
              <a:rPr lang="en-US" sz="13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- </a:t>
            </a: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Large </a:t>
            </a:r>
            <a:r>
              <a:rPr lang="en-US" sz="13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mets</a:t>
            </a: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(&gt;3 cm) or critical locations: 27-30 Gy/3-5 fractions</a:t>
            </a:r>
          </a:p>
          <a:p>
            <a:endParaRPr lang="en-US" sz="9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03433" lvl="1">
              <a:buSzPts val="1000"/>
              <a:tabLst>
                <a:tab pos="806867" algn="l"/>
              </a:tabLst>
            </a:pPr>
            <a:endParaRPr lang="en-US" sz="1200" dirty="0">
              <a:solidFill>
                <a:srgbClr val="000000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96FE78DB-46FD-90C4-44B3-286C4742FE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78" t="23029" r="2627" b="26419"/>
          <a:stretch>
            <a:fillRect/>
          </a:stretch>
        </p:blipFill>
        <p:spPr>
          <a:xfrm>
            <a:off x="141119" y="92734"/>
            <a:ext cx="2947256" cy="88781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3EA88B7-DAAF-1C38-E340-C2D551F7E990}"/>
              </a:ext>
            </a:extLst>
          </p:cNvPr>
          <p:cNvSpPr txBox="1"/>
          <p:nvPr/>
        </p:nvSpPr>
        <p:spPr>
          <a:xfrm>
            <a:off x="141120" y="855491"/>
            <a:ext cx="6938166" cy="2923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Chief complaint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Nausea, vomiting, seizures, focal neurologic deficits, changes in vision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ADBB08-1184-28AC-35E2-1D8EB526BF54}"/>
              </a:ext>
            </a:extLst>
          </p:cNvPr>
          <p:cNvSpPr/>
          <p:nvPr/>
        </p:nvSpPr>
        <p:spPr>
          <a:xfrm>
            <a:off x="141119" y="1236746"/>
            <a:ext cx="6946633" cy="5574221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lue and grey symbol with a microscope and a red and black sign&#10;&#10;AI-generated content may be incorrect.">
            <a:extLst>
              <a:ext uri="{FF2B5EF4-FFF2-40B4-BE49-F238E27FC236}">
                <a16:creationId xmlns:a16="http://schemas.microsoft.com/office/drawing/2014/main" id="{496A9247-094E-1BF0-E9DE-5FB80C9025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8800" y="-89519"/>
            <a:ext cx="980546" cy="980546"/>
          </a:xfrm>
          <a:prstGeom prst="rect">
            <a:avLst/>
          </a:prstGeom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28E26426-5C50-6F19-F210-49D68ECE22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654" y="1487683"/>
            <a:ext cx="6946632" cy="5072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B5FDFF4-D4C8-9A65-0ADE-AE4B8EA23904}"/>
              </a:ext>
            </a:extLst>
          </p:cNvPr>
          <p:cNvSpPr/>
          <p:nvPr/>
        </p:nvSpPr>
        <p:spPr>
          <a:xfrm>
            <a:off x="4762123" y="1398816"/>
            <a:ext cx="2317163" cy="20356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Key Radiologic Features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Bleeding/T1-pre bright </a:t>
            </a:r>
            <a:r>
              <a:rPr lang="en-US" sz="1200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mets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Choriocarcinoma, Thyroid, Melanoma, Renal </a:t>
            </a:r>
            <a:r>
              <a:rPr lang="en-US" sz="1200" i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(mnemonic: CT MR)</a:t>
            </a:r>
          </a:p>
          <a:p>
            <a:endParaRPr lang="en-US" sz="1200" i="1" dirty="0">
              <a:solidFill>
                <a:schemeClr val="bg1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Enhancing lesion </a:t>
            </a:r>
            <a:r>
              <a:rPr lang="en-US" sz="1200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Ddx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 Metastasis, Glioma, Lymphoma, Abscess, Demyelinating disease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7546BB-C6F5-62B9-FAC0-4878867A11D3}"/>
              </a:ext>
            </a:extLst>
          </p:cNvPr>
          <p:cNvSpPr txBox="1"/>
          <p:nvPr/>
        </p:nvSpPr>
        <p:spPr>
          <a:xfrm>
            <a:off x="8529735" y="140254"/>
            <a:ext cx="25490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Vera A, Dias Neto, Medina, A, A, Freret, M.. Radiation Oncology On-Call Handbook: CNS emergencies. Association of Residents in Radiation Oncology. December 2025.</a:t>
            </a:r>
          </a:p>
        </p:txBody>
      </p:sp>
    </p:spTree>
    <p:extLst>
      <p:ext uri="{BB962C8B-B14F-4D97-AF65-F5344CB8AC3E}">
        <p14:creationId xmlns:p14="http://schemas.microsoft.com/office/powerpoint/2010/main" val="4126320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A567C-EA24-28FF-E7E2-B499A9CC8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4D70D54-CA0C-C639-3C04-82E845E74F09}"/>
              </a:ext>
            </a:extLst>
          </p:cNvPr>
          <p:cNvSpPr txBox="1"/>
          <p:nvPr/>
        </p:nvSpPr>
        <p:spPr>
          <a:xfrm>
            <a:off x="2956636" y="137626"/>
            <a:ext cx="5741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Palliative Radiation for Brain Metastasis</a:t>
            </a:r>
          </a:p>
        </p:txBody>
      </p:sp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215222DF-0971-EC58-E5AB-049DB35ED4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78" t="23029" r="2627" b="26419"/>
          <a:stretch>
            <a:fillRect/>
          </a:stretch>
        </p:blipFill>
        <p:spPr>
          <a:xfrm>
            <a:off x="9380" y="-11265"/>
            <a:ext cx="2947256" cy="887812"/>
          </a:xfrm>
          <a:prstGeom prst="rect">
            <a:avLst/>
          </a:prstGeom>
        </p:spPr>
      </p:pic>
      <p:pic>
        <p:nvPicPr>
          <p:cNvPr id="4" name="Picture 3" descr="A blue and grey symbol with a microscope and a red and black sign&#10;&#10;AI-generated content may be incorrect.">
            <a:extLst>
              <a:ext uri="{FF2B5EF4-FFF2-40B4-BE49-F238E27FC236}">
                <a16:creationId xmlns:a16="http://schemas.microsoft.com/office/drawing/2014/main" id="{E7E04FEC-5098-BE2C-D860-DDAC6D8F65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8800" y="-89519"/>
            <a:ext cx="980546" cy="98054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5A0FCC9-495B-2D94-5B17-21F0C23F9385}"/>
              </a:ext>
            </a:extLst>
          </p:cNvPr>
          <p:cNvSpPr txBox="1"/>
          <p:nvPr/>
        </p:nvSpPr>
        <p:spPr>
          <a:xfrm>
            <a:off x="93542" y="725029"/>
            <a:ext cx="5996901" cy="68941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SUPPORTIVE CARE</a:t>
            </a:r>
            <a:endParaRPr lang="en-US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Management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u="sng" dirty="0">
                <a:latin typeface="Arial" panose="020B0604020202020204" pitchFamily="34" charset="0"/>
                <a:cs typeface="Arial" panose="020B0604020202020204" pitchFamily="34" charset="0"/>
              </a:rPr>
              <a:t>Acute seizure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: Lorazepam 2- 4 mg IV or diazepam 10 mg IV.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u="sng" dirty="0">
                <a:latin typeface="Arial" panose="020B0604020202020204" pitchFamily="34" charset="0"/>
                <a:cs typeface="Arial" panose="020B0604020202020204" pitchFamily="34" charset="0"/>
              </a:rPr>
              <a:t>Maintenance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: Initiate antiepileptic drug (e.g., levetiracetam 500-1,000 mg BID). Avoid routine prophylaxis unless seizures occur.</a:t>
            </a:r>
          </a:p>
          <a:p>
            <a:pPr marL="655579" lvl="1" indent="-252146">
              <a:buFont typeface="Arial" panose="020B0604020202020204" pitchFamily="34" charset="0"/>
              <a:buChar char="•"/>
            </a:pP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3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Increase ICP </a:t>
            </a:r>
            <a:r>
              <a:rPr lang="en-US" sz="13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(Nausea, vomiting, changes in vision, headache)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Dexamethasone (PPI)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Antiemetics -&gt; Zofran 4-8 Mg q8 </a:t>
            </a:r>
            <a:r>
              <a:rPr lang="en-US" sz="13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Hrs</a:t>
            </a:r>
            <a:r>
              <a:rPr lang="en-US" sz="13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  <a:p>
            <a:pPr marL="403433" lvl="1"/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3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Steroid Dosing</a:t>
            </a:r>
            <a:r>
              <a:rPr lang="en-US" sz="13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Steroid starting dose and taper schedule can be tailored to severity of symptoms and response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High symptom burden: 10 mg IV once, 4 mg po q6h or 8 mg bid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Moderate symptom burden: 4-6 mg po bid Low symptom burden 2-4 mg po q12-24h</a:t>
            </a:r>
          </a:p>
          <a:p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300" b="1" u="sng" dirty="0">
                <a:latin typeface="Arial" panose="020B0604020202020204" pitchFamily="34" charset="0"/>
                <a:cs typeface="Arial" panose="020B0604020202020204" pitchFamily="34" charset="0"/>
              </a:rPr>
              <a:t>Titration (Example for High Symptom Burden):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u="sng" dirty="0">
                <a:latin typeface="Arial" panose="020B0604020202020204" pitchFamily="34" charset="0"/>
                <a:cs typeface="Arial" panose="020B0604020202020204" pitchFamily="34" charset="0"/>
              </a:rPr>
              <a:t>Week 1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: 4 mg PO Q6 hours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u="sng" dirty="0">
                <a:latin typeface="Arial" panose="020B0604020202020204" pitchFamily="34" charset="0"/>
                <a:cs typeface="Arial" panose="020B0604020202020204" pitchFamily="34" charset="0"/>
              </a:rPr>
              <a:t>Week 2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: 4 mg PO q12 hours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u="sng" dirty="0">
                <a:latin typeface="Arial" panose="020B0604020202020204" pitchFamily="34" charset="0"/>
                <a:cs typeface="Arial" panose="020B0604020202020204" pitchFamily="34" charset="0"/>
              </a:rPr>
              <a:t>Week 3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: 4 mg Q AM then 2 mg QPM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u="sng" dirty="0">
                <a:latin typeface="Arial" panose="020B0604020202020204" pitchFamily="34" charset="0"/>
                <a:cs typeface="Arial" panose="020B0604020202020204" pitchFamily="34" charset="0"/>
              </a:rPr>
              <a:t>Week 4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: 2 mg Q12 hours, Week 5: 2 mg QD then stop</a:t>
            </a:r>
          </a:p>
          <a:p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3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Neurocognitive decline prevention: </a:t>
            </a:r>
          </a:p>
          <a:p>
            <a:r>
              <a:rPr lang="en-US" sz="1300" u="sng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Memantine (RTOG 0614)</a:t>
            </a:r>
            <a:r>
              <a:rPr lang="en-US" sz="13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Week 1: 5mg PO </a:t>
            </a:r>
            <a:r>
              <a:rPr lang="en-US" sz="13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qD</a:t>
            </a:r>
            <a:endParaRPr lang="en-US" sz="13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Week 2: 5 mg PO BID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Week 3: 10 mg PO </a:t>
            </a:r>
            <a:r>
              <a:rPr lang="en-US" sz="13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Qam</a:t>
            </a:r>
            <a:r>
              <a:rPr lang="en-US" sz="13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/5 mg </a:t>
            </a:r>
            <a:r>
              <a:rPr lang="en-US" sz="13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Qpm</a:t>
            </a:r>
            <a:endParaRPr lang="en-US" sz="13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Week 4-24: 10mg </a:t>
            </a:r>
            <a:r>
              <a:rPr lang="en-US" sz="13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Qam</a:t>
            </a:r>
            <a:r>
              <a:rPr lang="en-US" sz="13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/10 mg QPM (by 1 month) x 6mo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55579" lvl="1" indent="-252146">
              <a:buFont typeface="Arial" panose="020B0604020202020204" pitchFamily="34" charset="0"/>
              <a:buChar char="•"/>
            </a:pPr>
            <a:endParaRPr lang="en-US" sz="13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300" b="1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3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en-US" sz="13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A9178B-61B5-8A47-9EE6-B7E2705AEDA6}"/>
              </a:ext>
            </a:extLst>
          </p:cNvPr>
          <p:cNvSpPr txBox="1"/>
          <p:nvPr/>
        </p:nvSpPr>
        <p:spPr>
          <a:xfrm>
            <a:off x="8529735" y="140254"/>
            <a:ext cx="25490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Vera A, Dias Neto, Medina, A, A, Freret, M.. Radiation Oncology On-Call Handbook: CNS emergencies. Association of Residents in Radiation Oncology. December 2025.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01A3A2-2BC6-301C-36A2-8789644312C5}"/>
              </a:ext>
            </a:extLst>
          </p:cNvPr>
          <p:cNvSpPr txBox="1"/>
          <p:nvPr/>
        </p:nvSpPr>
        <p:spPr>
          <a:xfrm>
            <a:off x="6101559" y="725029"/>
            <a:ext cx="6090442" cy="6035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SUPPORTIVE CARE</a:t>
            </a:r>
          </a:p>
          <a:p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Proton Pump Inhibitors: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Omeprazole 20–40 mg PO once daily, 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H2 blockers (if PPI not tolerated): Famotidine 20 mg PO BID, 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Pantoprazole 40 mg PO once daily, 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Esomeprazole 20–40 mg PO once daily</a:t>
            </a:r>
          </a:p>
          <a:p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PCP Prophylaxis: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prolonged high-dose steroids (≥20 mg prednisone equivalent ≥4 weeks) </a:t>
            </a:r>
          </a:p>
          <a:p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or immunosuppression</a:t>
            </a:r>
          </a:p>
          <a:p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300" u="sng" dirty="0">
                <a:latin typeface="Arial" panose="020B0604020202020204" pitchFamily="34" charset="0"/>
                <a:cs typeface="Arial" panose="020B0604020202020204" pitchFamily="34" charset="0"/>
              </a:rPr>
              <a:t>First-line: </a:t>
            </a:r>
          </a:p>
          <a:p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Trimethoprim-Sulfamethoxazole (TMP-SMX)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1 single-strength tablet (80/400 mg) PO daily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1 double-strength tablet (160/800 mg) PO three times per week (Mon/Wed/Fri)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300" u="sng" dirty="0">
                <a:latin typeface="Arial" panose="020B0604020202020204" pitchFamily="34" charset="0"/>
                <a:cs typeface="Arial" panose="020B0604020202020204" pitchFamily="34" charset="0"/>
              </a:rPr>
              <a:t>Alternatives if sulfa-allergic or intolerant: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Dapsone 100 mg PO daily (check G6PD)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Atovaquone 1500 mg PO daily with food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Aerosolized pentamidine 300 mg via nebulizer monthly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Steroid-Induced Hyperglycemia </a:t>
            </a:r>
          </a:p>
          <a:p>
            <a:r>
              <a:rPr lang="en-US" sz="1300" u="sng" dirty="0">
                <a:latin typeface="Arial" panose="020B0604020202020204" pitchFamily="34" charset="0"/>
                <a:cs typeface="Arial" panose="020B0604020202020204" pitchFamily="34" charset="0"/>
              </a:rPr>
              <a:t>Glucose Management Monitoring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Check glucose fasting daily for all patients on steroids.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If glucose &gt;180 mg/dL, monitor before meals + bedtime (AC/HS).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Coordinate with PCP/Endocrinology insulin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Consider endocrinology if insulin-naïve and glucose &gt;300 mg/dL.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300" b="1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3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en-US" sz="13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701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8801B-13DC-49F3-25A4-02A57F638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D391A09-EFDD-E5A9-AE66-0DF4179C1BBE}"/>
              </a:ext>
            </a:extLst>
          </p:cNvPr>
          <p:cNvSpPr txBox="1"/>
          <p:nvPr/>
        </p:nvSpPr>
        <p:spPr>
          <a:xfrm>
            <a:off x="3088375" y="60972"/>
            <a:ext cx="5741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Palliative Radiation for Spinal Cord Compression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05A3F1-3B18-4212-0AC6-36610BCF9141}"/>
              </a:ext>
            </a:extLst>
          </p:cNvPr>
          <p:cNvSpPr txBox="1"/>
          <p:nvPr/>
        </p:nvSpPr>
        <p:spPr>
          <a:xfrm>
            <a:off x="3735175" y="1451729"/>
            <a:ext cx="3513923" cy="46935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300" b="1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Initial Workup:</a:t>
            </a:r>
          </a:p>
          <a:p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H&amp;P: </a:t>
            </a: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Neurologic Exam, including dermatome eval, DRE, duration </a:t>
            </a:r>
            <a:r>
              <a:rPr lang="en-US" sz="13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of </a:t>
            </a:r>
            <a:r>
              <a:rPr lang="en-US" sz="13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sx</a:t>
            </a:r>
            <a:endParaRPr lang="en-US" sz="13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n-US" sz="13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Pain</a:t>
            </a:r>
            <a:r>
              <a:rPr lang="en-US" sz="13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Biological and mechanical</a:t>
            </a:r>
            <a:br>
              <a:rPr lang="en-US" sz="13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n-US" sz="13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13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Important Information</a:t>
            </a:r>
            <a:r>
              <a:rPr lang="en-US" sz="13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en-US" sz="13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hx</a:t>
            </a:r>
            <a:r>
              <a:rPr lang="en-US" sz="13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of Trauma, Osteoporosis, Spinal Surgery, RT, Systemic Therapy</a:t>
            </a:r>
          </a:p>
          <a:p>
            <a:r>
              <a:rPr lang="en-US" sz="13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13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Diff Dx: </a:t>
            </a:r>
            <a:r>
              <a:rPr lang="en-US" sz="13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Trauma, LMD, Abscess, Degenerative spine disease, Intradural tumor.</a:t>
            </a:r>
          </a:p>
          <a:p>
            <a:endParaRPr lang="en-US" sz="13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Bilsky (ESCC) Scale:</a:t>
            </a:r>
          </a:p>
          <a:p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ESCC Grades 0-1b can be good candidates for RT alone, including SBRT.</a:t>
            </a:r>
          </a:p>
          <a:p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Grade 2-3 usually need surgical decompression in good surgical candidates.</a:t>
            </a:r>
          </a:p>
          <a:p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Grade 1c is considered indeterminate.</a:t>
            </a:r>
          </a:p>
          <a:p>
            <a:pPr marL="302575" indent="-302575">
              <a:tabLst>
                <a:tab pos="403433" algn="l"/>
              </a:tabLst>
            </a:pPr>
            <a:endParaRPr lang="en-US" sz="1300" b="1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02575" indent="-302575">
              <a:tabLst>
                <a:tab pos="403433" algn="l"/>
              </a:tabLst>
            </a:pP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SINS (Spinal Instability Classification)</a:t>
            </a:r>
          </a:p>
          <a:p>
            <a:pPr marL="302575" indent="-302575">
              <a:tabLst>
                <a:tab pos="403433" algn="l"/>
              </a:tabLst>
            </a:pPr>
            <a:r>
              <a:rPr lang="en-US" sz="1300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Score</a:t>
            </a: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</a:p>
          <a:p>
            <a:pPr>
              <a:tabLst>
                <a:tab pos="403433" algn="l"/>
              </a:tabLst>
            </a:pP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0-6: Stable Spine</a:t>
            </a:r>
          </a:p>
          <a:p>
            <a:pPr>
              <a:tabLst>
                <a:tab pos="403433" algn="l"/>
              </a:tabLst>
            </a:pP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7-12: Possible Instability </a:t>
            </a: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itchFamily="2" charset="2"/>
              </a:rPr>
              <a:t></a:t>
            </a: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Surgery consult</a:t>
            </a:r>
          </a:p>
          <a:p>
            <a:pPr>
              <a:tabLst>
                <a:tab pos="403433" algn="l"/>
              </a:tabLst>
            </a:pP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13-18 – Instability </a:t>
            </a: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itchFamily="2" charset="2"/>
              </a:rPr>
              <a:t> Likely Stabilization</a:t>
            </a:r>
            <a:endParaRPr lang="en-US" sz="13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B6EBEACC-981F-647A-8D0C-F65723561F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78" t="23029" r="2627" b="26419"/>
          <a:stretch>
            <a:fillRect/>
          </a:stretch>
        </p:blipFill>
        <p:spPr>
          <a:xfrm>
            <a:off x="141119" y="92734"/>
            <a:ext cx="2947256" cy="88781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B42BFFC-A089-A3F9-DA5C-0F0041585CDB}"/>
              </a:ext>
            </a:extLst>
          </p:cNvPr>
          <p:cNvSpPr txBox="1"/>
          <p:nvPr/>
        </p:nvSpPr>
        <p:spPr>
          <a:xfrm>
            <a:off x="141119" y="855491"/>
            <a:ext cx="7107979" cy="4770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Chief complaint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Neurologic Exam including dermatome eval, DRE, duration of symptoms</a:t>
            </a:r>
          </a:p>
          <a:p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Triage: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Pain, numbness, paresthesia, weakness, urinary/bowel dysfunction, Ataxia, Cauda Equina</a:t>
            </a:r>
            <a:endParaRPr lang="en-US" sz="12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BBE000-7DDF-FB9D-68C6-B717C4204C87}"/>
              </a:ext>
            </a:extLst>
          </p:cNvPr>
          <p:cNvSpPr/>
          <p:nvPr/>
        </p:nvSpPr>
        <p:spPr>
          <a:xfrm>
            <a:off x="141120" y="1451729"/>
            <a:ext cx="3461396" cy="3307558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lue and grey symbol with a microscope and a red and black sign&#10;&#10;AI-generated content may be incorrect.">
            <a:extLst>
              <a:ext uri="{FF2B5EF4-FFF2-40B4-BE49-F238E27FC236}">
                <a16:creationId xmlns:a16="http://schemas.microsoft.com/office/drawing/2014/main" id="{3CAB934A-0EC2-27B0-38AD-953F01AD6E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8800" y="-89519"/>
            <a:ext cx="980546" cy="9805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945080-FF5C-AA39-A524-54BD882084E5}"/>
              </a:ext>
            </a:extLst>
          </p:cNvPr>
          <p:cNvSpPr txBox="1"/>
          <p:nvPr/>
        </p:nvSpPr>
        <p:spPr>
          <a:xfrm>
            <a:off x="8529735" y="140254"/>
            <a:ext cx="25490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Vera A, Dias Neto, Medina, A, A, Freret, M.. Radiation Oncology On-Call Handbook: CNS emergencies. Association of Residents in Radiation Oncology. December 2025.</a:t>
            </a:r>
          </a:p>
        </p:txBody>
      </p:sp>
      <p:pic>
        <p:nvPicPr>
          <p:cNvPr id="2055" name="Picture 7">
            <a:hlinkClick r:id="rId5"/>
            <a:extLst>
              <a:ext uri="{FF2B5EF4-FFF2-40B4-BE49-F238E27FC236}">
                <a16:creationId xmlns:a16="http://schemas.microsoft.com/office/drawing/2014/main" id="{95758161-8276-2834-E4D2-999A8246F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779" y="1553543"/>
            <a:ext cx="3127230" cy="3018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4B3D1CB-7C56-45C6-7777-D52B2BCCD8AC}"/>
              </a:ext>
            </a:extLst>
          </p:cNvPr>
          <p:cNvSpPr txBox="1"/>
          <p:nvPr/>
        </p:nvSpPr>
        <p:spPr>
          <a:xfrm>
            <a:off x="273779" y="4063912"/>
            <a:ext cx="1819426" cy="508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ts val="1800"/>
              </a:lnSpc>
              <a:buNone/>
            </a:pPr>
            <a:r>
              <a:rPr lang="pl-PL" sz="1200" b="1" i="0" u="none" strike="noStrike" dirty="0">
                <a:effectLst/>
                <a:latin typeface="TwitterChirp"/>
              </a:rPr>
              <a:t>Nicholas Zaorsky, MD MS</a:t>
            </a:r>
          </a:p>
          <a:p>
            <a:pPr algn="l" rtl="0">
              <a:lnSpc>
                <a:spcPts val="1500"/>
              </a:lnSpc>
              <a:buNone/>
            </a:pPr>
            <a:r>
              <a:rPr lang="pl-PL" sz="1200" b="0" i="0" u="none" strike="noStrike" dirty="0">
                <a:effectLst/>
                <a:latin typeface="TwitterChirp"/>
              </a:rPr>
              <a:t>@NicholasZaorsky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3F8F13-A206-B978-6FA9-429A1C87A67E}"/>
              </a:ext>
            </a:extLst>
          </p:cNvPr>
          <p:cNvSpPr txBox="1"/>
          <p:nvPr/>
        </p:nvSpPr>
        <p:spPr>
          <a:xfrm>
            <a:off x="141119" y="4878471"/>
            <a:ext cx="3461396" cy="19236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Imaging: </a:t>
            </a:r>
            <a:endParaRPr lang="en-US" sz="14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n-US" sz="1400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MRI Spine (whole-spine) w/ Contrast</a:t>
            </a:r>
          </a:p>
          <a:p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  T1 and T2 (</a:t>
            </a:r>
            <a:r>
              <a:rPr lang="fr-FR" sz="1400" dirty="0" err="1">
                <a:latin typeface="Arial" panose="020B0604020202020204" pitchFamily="34" charset="0"/>
                <a:cs typeface="Arial" panose="020B0604020202020204" pitchFamily="34" charset="0"/>
              </a:rPr>
              <a:t>anatomy</a:t>
            </a:r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fr-FR" sz="1400" dirty="0" err="1">
                <a:latin typeface="Arial" panose="020B0604020202020204" pitchFamily="34" charset="0"/>
                <a:cs typeface="Arial" panose="020B0604020202020204" pitchFamily="34" charset="0"/>
              </a:rPr>
              <a:t>cord</a:t>
            </a:r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dirty="0" err="1">
                <a:latin typeface="Arial" panose="020B0604020202020204" pitchFamily="34" charset="0"/>
                <a:cs typeface="Arial" panose="020B0604020202020204" pitchFamily="34" charset="0"/>
              </a:rPr>
              <a:t>health</a:t>
            </a:r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1400" u="sng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STIR or T2 fat-sat (marrow involvement)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T1-Post fat-sat (tumor extension)</a:t>
            </a:r>
          </a:p>
          <a:p>
            <a:endParaRPr lang="en-US" sz="700" u="sng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n-US" sz="1400" u="sng" dirty="0">
                <a:latin typeface="Arial" panose="020B0604020202020204" pitchFamily="34" charset="0"/>
                <a:cs typeface="Arial" panose="020B0604020202020204" pitchFamily="34" charset="0"/>
              </a:rPr>
              <a:t>MRI Expected Signal Patterns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T1: CSF dark, spinal cord gray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T2: CSF bright, spinal cord light gray</a:t>
            </a:r>
            <a:endParaRPr lang="en-US" sz="14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9D4F09-8E96-5A04-B64C-A57E191EA234}"/>
              </a:ext>
            </a:extLst>
          </p:cNvPr>
          <p:cNvSpPr txBox="1"/>
          <p:nvPr/>
        </p:nvSpPr>
        <p:spPr>
          <a:xfrm>
            <a:off x="3602515" y="6216475"/>
            <a:ext cx="3646583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" dirty="0"/>
          </a:p>
          <a:p>
            <a:r>
              <a:rPr lang="en-US" sz="1400" dirty="0"/>
              <a:t>CT C/A/P – For Staging as Needed</a:t>
            </a:r>
          </a:p>
          <a:p>
            <a:r>
              <a:rPr lang="en-US" sz="1400" dirty="0"/>
              <a:t>CT Spine – Best for Bony Retropulsion</a:t>
            </a:r>
          </a:p>
          <a:p>
            <a:endParaRPr lang="en-US" sz="3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470E07-B5DB-5243-8A95-A9F2BD54436C}"/>
              </a:ext>
            </a:extLst>
          </p:cNvPr>
          <p:cNvSpPr/>
          <p:nvPr/>
        </p:nvSpPr>
        <p:spPr>
          <a:xfrm>
            <a:off x="3442270" y="6244281"/>
            <a:ext cx="252838" cy="5527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CB85F7-570F-DE9B-FBDE-444EE8579B2E}"/>
              </a:ext>
            </a:extLst>
          </p:cNvPr>
          <p:cNvSpPr txBox="1"/>
          <p:nvPr/>
        </p:nvSpPr>
        <p:spPr>
          <a:xfrm>
            <a:off x="7381756" y="855488"/>
            <a:ext cx="4669125" cy="59093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02575" indent="-302575">
              <a:tabLst>
                <a:tab pos="403433" algn="l"/>
              </a:tabLst>
            </a:pPr>
            <a:r>
              <a:rPr lang="en-US" sz="1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Treatment:</a:t>
            </a:r>
          </a:p>
          <a:p>
            <a:pPr marL="302575" indent="-302575">
              <a:tabLst>
                <a:tab pos="403433" algn="l"/>
              </a:tabLst>
            </a:pPr>
            <a:endParaRPr lang="en-US" sz="14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02575" indent="-302575">
              <a:tabLst>
                <a:tab pos="403433" algn="l"/>
              </a:tabLst>
            </a:pPr>
            <a:r>
              <a:rPr lang="en-US" sz="1400" u="sng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Surgery:</a:t>
            </a:r>
            <a:r>
              <a:rPr lang="en-US" sz="1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  <a:p>
            <a:pPr>
              <a:tabLst>
                <a:tab pos="403433" algn="l"/>
              </a:tabLst>
            </a:pPr>
            <a:r>
              <a:rPr lang="en-US" sz="1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Laminectomy, corpectomy, Separation Op, Kyphoplasty</a:t>
            </a:r>
          </a:p>
          <a:p>
            <a:pPr marL="302575" indent="-302575">
              <a:tabLst>
                <a:tab pos="403433" algn="l"/>
              </a:tabLst>
            </a:pPr>
            <a:endParaRPr lang="en-US" sz="14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02575" indent="-302575">
              <a:tabLst>
                <a:tab pos="403433" algn="l"/>
              </a:tabLst>
            </a:pPr>
            <a:r>
              <a:rPr lang="en-US" sz="1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Radiation Therapy:</a:t>
            </a:r>
            <a:endParaRPr lang="en-US" sz="14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tabLst>
                <a:tab pos="403433" algn="l"/>
              </a:tabLst>
            </a:pPr>
            <a:r>
              <a:rPr lang="en-US" sz="1400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EBRT: 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30 Gy /10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Fx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20 Gy /5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Fx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8Gy/1Fx</a:t>
            </a:r>
          </a:p>
          <a:p>
            <a:pPr>
              <a:tabLst>
                <a:tab pos="403433" algn="l"/>
              </a:tabLst>
            </a:pPr>
            <a:r>
              <a:rPr lang="en-US" sz="1400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SBRT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18 Gy/1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Fx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24 Gy/2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Fx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27Gy/3Fx, 35Gy/5fx</a:t>
            </a:r>
          </a:p>
          <a:p>
            <a:pPr marL="302575" indent="-302575">
              <a:tabLst>
                <a:tab pos="403433" algn="l"/>
              </a:tabLst>
            </a:pPr>
            <a:endParaRPr lang="en-US" sz="14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02575" indent="-302575">
              <a:tabLst>
                <a:tab pos="403433" algn="l"/>
              </a:tabLst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Side Effects:</a:t>
            </a:r>
          </a:p>
          <a:p>
            <a:pPr marL="302575" indent="-302575">
              <a:tabLst>
                <a:tab pos="403433" algn="l"/>
              </a:tabLst>
            </a:pPr>
            <a:r>
              <a:rPr lang="en-US" sz="1400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Esophagitis: </a:t>
            </a:r>
          </a:p>
          <a:p>
            <a:pPr>
              <a:tabLst>
                <a:tab pos="403433" algn="l"/>
              </a:tabLst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Dietary Modification (Soft diet), magic mouthwash/lidocaine, pain control </a:t>
            </a:r>
          </a:p>
          <a:p>
            <a:pPr>
              <a:tabLst>
                <a:tab pos="403433" algn="l"/>
              </a:tabLst>
            </a:pPr>
            <a:endParaRPr lang="en-US" sz="14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02575" indent="-302575">
              <a:tabLst>
                <a:tab pos="403433" algn="l"/>
              </a:tabLst>
            </a:pPr>
            <a:r>
              <a:rPr lang="en-US" sz="1400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Nausea: </a:t>
            </a:r>
          </a:p>
          <a:p>
            <a:pPr>
              <a:tabLst>
                <a:tab pos="403433" algn="l"/>
              </a:tabLst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Zofran 4 mg PO 20 minutes before treatment </a:t>
            </a:r>
          </a:p>
          <a:p>
            <a:pPr marL="302575" indent="-302575">
              <a:buFont typeface="Arial" panose="020B0604020202020204" pitchFamily="34" charset="0"/>
              <a:buChar char="•"/>
              <a:tabLst>
                <a:tab pos="403433" algn="l"/>
              </a:tabLst>
            </a:pPr>
            <a:endParaRPr lang="en-US" sz="14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02575" indent="-302575">
              <a:tabLst>
                <a:tab pos="403433" algn="l"/>
              </a:tabLst>
            </a:pPr>
            <a:r>
              <a:rPr lang="en-US" sz="1400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Diarrhea: </a:t>
            </a:r>
          </a:p>
          <a:p>
            <a:pPr marL="302575" indent="-302575">
              <a:buFont typeface="Arial" panose="020B0604020202020204" pitchFamily="34" charset="0"/>
              <a:buChar char="•"/>
              <a:tabLst>
                <a:tab pos="403433" algn="l"/>
              </a:tabLst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Imodium titrating to 8 pills max/day -&gt; Lomotil </a:t>
            </a:r>
          </a:p>
          <a:p>
            <a:pPr>
              <a:tabLst>
                <a:tab pos="403433" algn="l"/>
              </a:tabLst>
            </a:pPr>
            <a:endParaRPr lang="en-US" sz="14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02575" indent="-302575">
              <a:tabLst>
                <a:tab pos="403433" algn="l"/>
              </a:tabLst>
            </a:pPr>
            <a:r>
              <a:rPr lang="en-US" sz="1400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Cystitis: </a:t>
            </a:r>
          </a:p>
          <a:p>
            <a:pPr marL="302575" indent="-302575">
              <a:buFont typeface="Arial" panose="020B0604020202020204" pitchFamily="34" charset="0"/>
              <a:buChar char="•"/>
              <a:tabLst>
                <a:tab pos="403433" algn="l"/>
              </a:tabLst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Rule out UTI/Cranberry juice/phenazopyridine</a:t>
            </a:r>
          </a:p>
          <a:p>
            <a:pPr marL="302575" indent="-302575">
              <a:tabLst>
                <a:tab pos="403433" algn="l"/>
              </a:tabLst>
            </a:pPr>
            <a:endParaRPr lang="en-US" sz="14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02575" indent="-302575">
              <a:tabLst>
                <a:tab pos="403433" algn="l"/>
              </a:tabLst>
            </a:pPr>
            <a:r>
              <a:rPr lang="en-US" sz="1400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Vertebral Body Fracture: </a:t>
            </a:r>
          </a:p>
          <a:p>
            <a:pPr marL="302575" indent="-302575">
              <a:buFont typeface="Arial" panose="020B0604020202020204" pitchFamily="34" charset="0"/>
              <a:buChar char="•"/>
              <a:tabLst>
                <a:tab pos="403433" algn="l"/>
              </a:tabLst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Risk related to dose/fraction, SINS, and preexisting fracture</a:t>
            </a:r>
          </a:p>
          <a:p>
            <a:pPr marL="302575" indent="-302575">
              <a:buFont typeface="Arial" panose="020B0604020202020204" pitchFamily="34" charset="0"/>
              <a:buChar char="•"/>
              <a:tabLst>
                <a:tab pos="403433" algn="l"/>
              </a:tabLst>
            </a:pPr>
            <a:endParaRPr lang="en-US" sz="14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534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DBB52-74F3-B6F7-1E17-0B624827A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958A212-D957-7340-14B1-B883B67937E5}"/>
              </a:ext>
            </a:extLst>
          </p:cNvPr>
          <p:cNvSpPr txBox="1"/>
          <p:nvPr/>
        </p:nvSpPr>
        <p:spPr>
          <a:xfrm>
            <a:off x="3088375" y="60972"/>
            <a:ext cx="5741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Leptomeningeal Disease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EECA52-B444-47A3-FB24-63A9C86A2AFB}"/>
              </a:ext>
            </a:extLst>
          </p:cNvPr>
          <p:cNvSpPr txBox="1"/>
          <p:nvPr/>
        </p:nvSpPr>
        <p:spPr>
          <a:xfrm>
            <a:off x="6768444" y="1743303"/>
            <a:ext cx="5282435" cy="50937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02575" indent="-302575">
              <a:tabLst>
                <a:tab pos="403433" algn="l"/>
              </a:tabLst>
            </a:pPr>
            <a:r>
              <a:rPr lang="en-US" sz="13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Physical Exam: </a:t>
            </a:r>
          </a:p>
          <a:p>
            <a:pPr marL="302575" indent="-302575">
              <a:buFont typeface="Arial" panose="020B0604020202020204" pitchFamily="34" charset="0"/>
              <a:buChar char="•"/>
              <a:tabLst>
                <a:tab pos="403433" algn="l"/>
              </a:tabLst>
            </a:pPr>
            <a:r>
              <a:rPr lang="en-US" sz="13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Neuro exam ( Mental status, CN, MS, Sensation,</a:t>
            </a:r>
          </a:p>
          <a:p>
            <a:pPr marL="302575" indent="-302575">
              <a:buFont typeface="Arial" panose="020B0604020202020204" pitchFamily="34" charset="0"/>
              <a:buChar char="•"/>
              <a:tabLst>
                <a:tab pos="403433" algn="l"/>
              </a:tabLst>
            </a:pPr>
            <a:r>
              <a:rPr lang="en-US" sz="13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Cerebellar signs (pronator drift, gait)</a:t>
            </a:r>
          </a:p>
          <a:p>
            <a:pPr>
              <a:tabLst>
                <a:tab pos="403433" algn="l"/>
              </a:tabLst>
            </a:pPr>
            <a:endParaRPr lang="en-US" sz="13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02575" indent="-302575">
              <a:tabLst>
                <a:tab pos="403433" algn="l"/>
              </a:tabLst>
            </a:pPr>
            <a:r>
              <a:rPr lang="en-US" sz="13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Labs: </a:t>
            </a:r>
          </a:p>
          <a:p>
            <a:pPr marL="302575" indent="-302575">
              <a:buFont typeface="Arial" panose="020B0604020202020204" pitchFamily="34" charset="0"/>
              <a:buChar char="•"/>
              <a:tabLst>
                <a:tab pos="403433" algn="l"/>
              </a:tabLst>
            </a:pPr>
            <a:r>
              <a:rPr lang="en-US" sz="13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CBC w/diff, CMP, PT/INR (LP), LP with CSF analysis.</a:t>
            </a:r>
          </a:p>
          <a:p>
            <a:pPr marL="302575" indent="-302575">
              <a:buFont typeface="Arial" panose="020B0604020202020204" pitchFamily="34" charset="0"/>
              <a:buChar char="•"/>
              <a:tabLst>
                <a:tab pos="403433" algn="l"/>
              </a:tabLst>
            </a:pPr>
            <a:endParaRPr lang="en-US" sz="13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02575" indent="-302575">
              <a:tabLst>
                <a:tab pos="403433" algn="l"/>
              </a:tabLst>
            </a:pPr>
            <a:r>
              <a:rPr lang="en-US" sz="13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CSF analysis</a:t>
            </a:r>
            <a:r>
              <a:rPr lang="en-US" sz="13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</a:p>
          <a:p>
            <a:pPr marL="302575" indent="-302575">
              <a:buFont typeface="Arial" panose="020B0604020202020204" pitchFamily="34" charset="0"/>
              <a:buChar char="•"/>
              <a:tabLst>
                <a:tab pos="403433" algn="l"/>
              </a:tabLst>
            </a:pPr>
            <a:r>
              <a:rPr lang="en-US" sz="13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&gt;16 mmH2O, WBC, Xanthochromia, Protein, Glucose, </a:t>
            </a:r>
          </a:p>
          <a:p>
            <a:pPr marL="302575" indent="-302575">
              <a:buFont typeface="Arial" panose="020B0604020202020204" pitchFamily="34" charset="0"/>
              <a:buChar char="•"/>
              <a:tabLst>
                <a:tab pos="403433" algn="l"/>
              </a:tabLst>
            </a:pPr>
            <a:r>
              <a:rPr lang="en-US" sz="13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Flow cytometry, tumor markers</a:t>
            </a:r>
          </a:p>
          <a:p>
            <a:pPr marL="302575" indent="-302575">
              <a:tabLst>
                <a:tab pos="403433" algn="l"/>
              </a:tabLst>
            </a:pPr>
            <a:endParaRPr lang="en-US" sz="13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02575" indent="-302575">
              <a:tabLst>
                <a:tab pos="403433" algn="l"/>
              </a:tabLst>
            </a:pPr>
            <a:r>
              <a:rPr lang="en-US" sz="13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Imaging:</a:t>
            </a:r>
          </a:p>
          <a:p>
            <a:pPr marL="302575" indent="-302575">
              <a:buFont typeface="Arial" panose="020B0604020202020204" pitchFamily="34" charset="0"/>
              <a:buChar char="•"/>
              <a:tabLst>
                <a:tab pos="403433" algn="l"/>
              </a:tabLst>
            </a:pPr>
            <a:r>
              <a:rPr lang="en-US" sz="1300" u="sng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CT head w/o contrast</a:t>
            </a:r>
            <a:r>
              <a:rPr lang="en-US" sz="13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 R/O bleeding</a:t>
            </a:r>
          </a:p>
          <a:p>
            <a:pPr marL="302575" indent="-302575">
              <a:buFont typeface="Arial" panose="020B0604020202020204" pitchFamily="34" charset="0"/>
              <a:buChar char="•"/>
              <a:tabLst>
                <a:tab pos="403433" algn="l"/>
              </a:tabLst>
            </a:pPr>
            <a:r>
              <a:rPr lang="en-US" sz="1300" u="sng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MRI Brain: </a:t>
            </a:r>
            <a:r>
              <a:rPr lang="en-US" sz="13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T1 post contrast MPRAGE/T2 Flair</a:t>
            </a:r>
          </a:p>
          <a:p>
            <a:pPr marL="302575" indent="-302575">
              <a:buFont typeface="Arial" panose="020B0604020202020204" pitchFamily="34" charset="0"/>
              <a:buChar char="•"/>
              <a:tabLst>
                <a:tab pos="403433" algn="l"/>
              </a:tabLst>
            </a:pPr>
            <a:r>
              <a:rPr lang="en-US" sz="1300" u="sng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MRI Spine: </a:t>
            </a:r>
            <a:r>
              <a:rPr lang="en-US" sz="13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Leptomeningeal Protocol (w/wo contrast)</a:t>
            </a:r>
          </a:p>
          <a:p>
            <a:pPr>
              <a:tabLst>
                <a:tab pos="403433" algn="l"/>
              </a:tabLst>
            </a:pPr>
            <a:endParaRPr lang="en-US" sz="13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tabLst>
                <a:tab pos="403433" algn="l"/>
              </a:tabLst>
            </a:pPr>
            <a:r>
              <a:rPr lang="en-US" sz="13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Treatment: </a:t>
            </a:r>
          </a:p>
          <a:p>
            <a:pPr>
              <a:tabLst>
                <a:tab pos="403433" algn="l"/>
              </a:tabLst>
            </a:pPr>
            <a:r>
              <a:rPr lang="en-US" sz="13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Elevated ICP/Edema: 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403433" algn="l"/>
              </a:tabLst>
            </a:pPr>
            <a:r>
              <a:rPr lang="en-US" sz="13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Dexamethasone 10 mg IV x 1, followed by 4 mg Q6 </a:t>
            </a:r>
            <a:r>
              <a:rPr lang="en-US" sz="13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hrs</a:t>
            </a:r>
            <a:endParaRPr lang="en-US" sz="13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tabLst>
                <a:tab pos="403433" algn="l"/>
              </a:tabLst>
            </a:pPr>
            <a:endParaRPr lang="en-US" sz="13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tabLst>
                <a:tab pos="403433" algn="l"/>
              </a:tabLst>
            </a:pPr>
            <a:r>
              <a:rPr lang="en-US" sz="13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Seizures: 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403433" algn="l"/>
              </a:tabLst>
            </a:pPr>
            <a:r>
              <a:rPr lang="en-US" sz="13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Ativan 2-4 mg IV -&gt; followed by maintenance antiepileptics </a:t>
            </a:r>
          </a:p>
          <a:p>
            <a:pPr>
              <a:tabLst>
                <a:tab pos="403433" algn="l"/>
              </a:tabLst>
            </a:pPr>
            <a:endParaRPr lang="en-US" sz="13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tabLst>
                <a:tab pos="403433" algn="l"/>
              </a:tabLst>
            </a:pPr>
            <a:r>
              <a:rPr lang="en-US" sz="13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Pain: 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403433" algn="l"/>
              </a:tabLst>
            </a:pPr>
            <a:r>
              <a:rPr lang="en-US" sz="13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WHO scale for pain (careful with NSAIDS if bleeding)</a:t>
            </a:r>
          </a:p>
        </p:txBody>
      </p:sp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E86BF19E-8482-9F53-DF5A-910B85DF63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78" t="23029" r="2627" b="26419"/>
          <a:stretch>
            <a:fillRect/>
          </a:stretch>
        </p:blipFill>
        <p:spPr>
          <a:xfrm>
            <a:off x="141119" y="92734"/>
            <a:ext cx="2947256" cy="88781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0E23CCE-BEC3-54FC-5940-65DD4B6EB16B}"/>
              </a:ext>
            </a:extLst>
          </p:cNvPr>
          <p:cNvSpPr txBox="1"/>
          <p:nvPr/>
        </p:nvSpPr>
        <p:spPr>
          <a:xfrm>
            <a:off x="141119" y="855491"/>
            <a:ext cx="11909762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02575" indent="-302575">
              <a:tabLst>
                <a:tab pos="403433" algn="l"/>
              </a:tabLst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Chief complaint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Nausea, vomiting, headache, cranial nerve deficits, seizures, and changes in mental status, cerebellar dysfunction, changes in</a:t>
            </a:r>
          </a:p>
          <a:p>
            <a:pPr marL="302575" indent="-302575">
              <a:tabLst>
                <a:tab pos="403433" algn="l"/>
              </a:tabLst>
            </a:pPr>
            <a:r>
              <a:rPr lang="en-US" sz="1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vision radiculopathy, cauda equina syndrome.</a:t>
            </a:r>
          </a:p>
          <a:p>
            <a:r>
              <a:rPr lang="en-US" sz="1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Signs: </a:t>
            </a:r>
            <a:r>
              <a:rPr lang="en-US" sz="1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Papilledema, CN Neuropathies, Upper and Lower motor neuron pattern, Cauda Equina, Conus medullary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3BA13B-3DE6-712C-1C2A-51CC585BBBD7}"/>
              </a:ext>
            </a:extLst>
          </p:cNvPr>
          <p:cNvSpPr/>
          <p:nvPr/>
        </p:nvSpPr>
        <p:spPr>
          <a:xfrm>
            <a:off x="141118" y="1743303"/>
            <a:ext cx="6429364" cy="5067664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lue and grey symbol with a microscope and a red and black sign&#10;&#10;AI-generated content may be incorrect.">
            <a:extLst>
              <a:ext uri="{FF2B5EF4-FFF2-40B4-BE49-F238E27FC236}">
                <a16:creationId xmlns:a16="http://schemas.microsoft.com/office/drawing/2014/main" id="{3F07CD31-525B-1CFD-AC44-ADA09D8C7F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8800" y="-89519"/>
            <a:ext cx="980546" cy="980546"/>
          </a:xfrm>
          <a:prstGeom prst="rect">
            <a:avLst/>
          </a:prstGeom>
        </p:spPr>
      </p:pic>
      <p:pic>
        <p:nvPicPr>
          <p:cNvPr id="6156" name="Picture 12">
            <a:extLst>
              <a:ext uri="{FF2B5EF4-FFF2-40B4-BE49-F238E27FC236}">
                <a16:creationId xmlns:a16="http://schemas.microsoft.com/office/drawing/2014/main" id="{B97E4F94-3E22-AF5E-3E82-94E82112D8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17" y="1791194"/>
            <a:ext cx="5429258" cy="5019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010524-01F6-CBC6-586E-14860B5517AE}"/>
              </a:ext>
            </a:extLst>
          </p:cNvPr>
          <p:cNvSpPr txBox="1"/>
          <p:nvPr/>
        </p:nvSpPr>
        <p:spPr>
          <a:xfrm>
            <a:off x="8597294" y="156482"/>
            <a:ext cx="25490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Vera A, Dias Neto, Medina, A, A, Freret, M.. Radiation Oncology On-Call Handbook: CNS emergencies. Association of Residents in Radiation Oncology. December 2025.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4F7245-0396-AB4B-A137-15981C553AAB}"/>
              </a:ext>
            </a:extLst>
          </p:cNvPr>
          <p:cNvSpPr/>
          <p:nvPr/>
        </p:nvSpPr>
        <p:spPr>
          <a:xfrm>
            <a:off x="4236099" y="1949395"/>
            <a:ext cx="2195804" cy="14796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tabLst>
                <a:tab pos="403433" algn="l"/>
              </a:tabLst>
            </a:pPr>
            <a:r>
              <a:rPr lang="en-US" sz="12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MRI brain findings: </a:t>
            </a:r>
          </a:p>
          <a:p>
            <a:pPr>
              <a:tabLst>
                <a:tab pos="403433" algn="l"/>
              </a:tabLst>
            </a:pPr>
            <a:r>
              <a:rPr lang="en-US" sz="1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T1C: Leptomeningeal</a:t>
            </a:r>
          </a:p>
          <a:p>
            <a:pPr>
              <a:tabLst>
                <a:tab pos="403433" algn="l"/>
              </a:tabLst>
            </a:pPr>
            <a:r>
              <a:rPr lang="en-US" sz="1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enhancement (sugarcoating)</a:t>
            </a:r>
          </a:p>
          <a:p>
            <a:pPr>
              <a:tabLst>
                <a:tab pos="403433" algn="l"/>
              </a:tabLst>
            </a:pPr>
            <a:r>
              <a:rPr lang="en-US" sz="1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Bloomy Rind Sign T2 Flair (Abnormally elevated </a:t>
            </a:r>
          </a:p>
          <a:p>
            <a:pPr>
              <a:tabLst>
                <a:tab pos="403433" algn="l"/>
              </a:tabLst>
            </a:pPr>
            <a:r>
              <a:rPr lang="en-US" sz="1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signal within sulci)</a:t>
            </a:r>
          </a:p>
        </p:txBody>
      </p:sp>
    </p:spTree>
    <p:extLst>
      <p:ext uri="{BB962C8B-B14F-4D97-AF65-F5344CB8AC3E}">
        <p14:creationId xmlns:p14="http://schemas.microsoft.com/office/powerpoint/2010/main" val="2703768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A4A3E-A155-36B5-037A-33DE5B0E5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98961F3-0A4D-FDD6-3133-ACF4A1E15E1E}"/>
              </a:ext>
            </a:extLst>
          </p:cNvPr>
          <p:cNvSpPr txBox="1"/>
          <p:nvPr/>
        </p:nvSpPr>
        <p:spPr>
          <a:xfrm>
            <a:off x="3088375" y="60972"/>
            <a:ext cx="5741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Leptomeningeal Disease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1A0FB1-B04A-438F-36DE-88DF9634C041}"/>
              </a:ext>
            </a:extLst>
          </p:cNvPr>
          <p:cNvSpPr txBox="1"/>
          <p:nvPr/>
        </p:nvSpPr>
        <p:spPr>
          <a:xfrm>
            <a:off x="6646262" y="855491"/>
            <a:ext cx="5404620" cy="5852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Consults: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Neuro Onc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Neurosurgery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Radiation Oncology</a:t>
            </a:r>
          </a:p>
          <a:p>
            <a:endParaRPr lang="en-US" sz="1400" b="1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Treatment: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Always discuss the goals of therapy first</a:t>
            </a:r>
          </a:p>
          <a:p>
            <a:pPr>
              <a:tabLst>
                <a:tab pos="403433" algn="l"/>
              </a:tabLst>
            </a:pPr>
            <a:endParaRPr lang="en-US" sz="1400" b="1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tabLst>
                <a:tab pos="403433" algn="l"/>
              </a:tabLst>
            </a:pPr>
            <a:r>
              <a:rPr lang="en-US" sz="1400" u="sng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LMD-directed therapy:</a:t>
            </a:r>
          </a:p>
          <a:p>
            <a:pPr marL="171450" indent="-171450">
              <a:buFont typeface="Arial" panose="020B0604020202020204" pitchFamily="34" charset="0"/>
              <a:buChar char="•"/>
              <a:tabLst>
                <a:tab pos="403433" algn="l"/>
              </a:tabLst>
            </a:pPr>
            <a:r>
              <a:rPr lang="en-US" sz="1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Genomics and treatment history</a:t>
            </a:r>
          </a:p>
          <a:p>
            <a:pPr marL="171450" indent="-171450">
              <a:buFont typeface="Arial" panose="020B0604020202020204" pitchFamily="34" charset="0"/>
              <a:buChar char="•"/>
              <a:tabLst>
                <a:tab pos="403433" algn="l"/>
              </a:tabLst>
            </a:pPr>
            <a:endParaRPr lang="en-US" sz="14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tabLst>
                <a:tab pos="403433" algn="l"/>
              </a:tabLst>
            </a:pPr>
            <a:r>
              <a:rPr lang="en-US" sz="1400" u="sng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Systemic Therapy for LMD (examples):</a:t>
            </a:r>
          </a:p>
          <a:p>
            <a:pPr marL="171450" indent="-171450">
              <a:buFont typeface="Arial" panose="020B0604020202020204" pitchFamily="34" charset="0"/>
              <a:buChar char="•"/>
              <a:tabLst>
                <a:tab pos="403433" algn="l"/>
              </a:tabLst>
            </a:pPr>
            <a:r>
              <a:rPr lang="en-US" sz="1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Nivolumab + Ipilimumab (melanoma)</a:t>
            </a:r>
          </a:p>
          <a:p>
            <a:pPr marL="171450" indent="-171450">
              <a:buFont typeface="Arial" panose="020B0604020202020204" pitchFamily="34" charset="0"/>
              <a:buChar char="•"/>
              <a:tabLst>
                <a:tab pos="403433" algn="l"/>
              </a:tabLst>
            </a:pPr>
            <a:r>
              <a:rPr lang="en-US" sz="1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Tucatinib, Capecitabine, and Trastuzumab (breast)</a:t>
            </a:r>
          </a:p>
          <a:p>
            <a:pPr marL="171450" indent="-171450">
              <a:buFont typeface="Arial" panose="020B0604020202020204" pitchFamily="34" charset="0"/>
              <a:buChar char="•"/>
              <a:tabLst>
                <a:tab pos="403433" algn="l"/>
              </a:tabLst>
            </a:pPr>
            <a:r>
              <a:rPr lang="en-US" sz="1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Osimertinib or </a:t>
            </a:r>
            <a:r>
              <a:rPr lang="en-US" sz="1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alectinib</a:t>
            </a:r>
            <a:r>
              <a:rPr lang="en-US" sz="1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(lung)</a:t>
            </a:r>
          </a:p>
          <a:p>
            <a:pPr marL="171450" indent="-171450">
              <a:buFont typeface="Arial" panose="020B0604020202020204" pitchFamily="34" charset="0"/>
              <a:buChar char="•"/>
              <a:tabLst>
                <a:tab pos="403433" algn="l"/>
              </a:tabLst>
            </a:pPr>
            <a:r>
              <a:rPr lang="en-US" sz="1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Dabrafenib (BRAF-mutant tumor)</a:t>
            </a:r>
          </a:p>
          <a:p>
            <a:pPr marL="171450" indent="-171450">
              <a:buFont typeface="Arial" panose="020B0604020202020204" pitchFamily="34" charset="0"/>
              <a:buChar char="•"/>
              <a:tabLst>
                <a:tab pos="403433" algn="l"/>
              </a:tabLst>
            </a:pPr>
            <a:endParaRPr lang="en-US" sz="14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tabLst>
                <a:tab pos="403433" algn="l"/>
              </a:tabLst>
            </a:pPr>
            <a:r>
              <a:rPr lang="en-US" sz="1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Intrathecal Therapy</a:t>
            </a:r>
          </a:p>
          <a:p>
            <a:pPr>
              <a:tabLst>
                <a:tab pos="403433" algn="l"/>
              </a:tabLst>
            </a:pPr>
            <a:r>
              <a:rPr lang="en-US" sz="1400" u="sng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Omaya: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403433" algn="l"/>
              </a:tabLst>
            </a:pPr>
            <a:r>
              <a:rPr lang="en-US" sz="1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IT methotrexate, thiotepa, cytarabine, trastuzumab </a:t>
            </a:r>
          </a:p>
          <a:p>
            <a:pPr>
              <a:tabLst>
                <a:tab pos="403433" algn="l"/>
              </a:tabLst>
            </a:pPr>
            <a:endParaRPr lang="en-US" sz="1400" b="1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tabLst>
                <a:tab pos="403433" algn="l"/>
              </a:tabLst>
            </a:pPr>
            <a:r>
              <a:rPr lang="en-US" sz="1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Candidates for IT therapy: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403433" algn="l"/>
              </a:tabLst>
            </a:pPr>
            <a:r>
              <a:rPr lang="en-US" sz="1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 bulky disease, no hydrocephalus, absence of parenchymal Mets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403433" algn="l"/>
              </a:tabLst>
            </a:pPr>
            <a:endParaRPr lang="en-US" sz="14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RT:</a:t>
            </a:r>
            <a:endParaRPr lang="en-US" sz="14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CSI or WBRT: 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30 Gy/10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Fx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using IMRT/VMAT or IMPT</a:t>
            </a:r>
          </a:p>
          <a:p>
            <a:endParaRPr lang="en-US" sz="14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en-US" sz="9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02575" indent="-302575">
              <a:tabLst>
                <a:tab pos="403433" algn="l"/>
              </a:tabLst>
            </a:pPr>
            <a:endParaRPr lang="en-US" sz="1100" dirty="0">
              <a:solidFill>
                <a:srgbClr val="000000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A7BD6CC9-CA50-CA39-1CEA-B55FA2E5B7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78" t="23029" r="2627" b="26419"/>
          <a:stretch>
            <a:fillRect/>
          </a:stretch>
        </p:blipFill>
        <p:spPr>
          <a:xfrm>
            <a:off x="141119" y="92734"/>
            <a:ext cx="2947256" cy="88781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0787DEB-23F9-C0EA-56B7-26DDF4A2CD6F}"/>
              </a:ext>
            </a:extLst>
          </p:cNvPr>
          <p:cNvSpPr/>
          <p:nvPr/>
        </p:nvSpPr>
        <p:spPr>
          <a:xfrm>
            <a:off x="141119" y="855490"/>
            <a:ext cx="6332109" cy="585216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lue and grey symbol with a microscope and a red and black sign&#10;&#10;AI-generated content may be incorrect.">
            <a:extLst>
              <a:ext uri="{FF2B5EF4-FFF2-40B4-BE49-F238E27FC236}">
                <a16:creationId xmlns:a16="http://schemas.microsoft.com/office/drawing/2014/main" id="{C7309DEB-8905-80A6-FC0E-16D339A49E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8800" y="-89519"/>
            <a:ext cx="980546" cy="980546"/>
          </a:xfrm>
          <a:prstGeom prst="rect">
            <a:avLst/>
          </a:prstGeom>
        </p:spPr>
      </p:pic>
      <p:pic>
        <p:nvPicPr>
          <p:cNvPr id="8194" name="Picture 2">
            <a:extLst>
              <a:ext uri="{FF2B5EF4-FFF2-40B4-BE49-F238E27FC236}">
                <a16:creationId xmlns:a16="http://schemas.microsoft.com/office/drawing/2014/main" id="{660FDFF7-351C-A9DC-5A50-0376E88A52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152" y="855489"/>
            <a:ext cx="6126480" cy="5627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24BB1EE-6359-3C40-5A82-5A0749322F59}"/>
              </a:ext>
            </a:extLst>
          </p:cNvPr>
          <p:cNvSpPr txBox="1"/>
          <p:nvPr/>
        </p:nvSpPr>
        <p:spPr>
          <a:xfrm>
            <a:off x="8679868" y="184082"/>
            <a:ext cx="25490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Vera A, Dias Neto, Medina, A, A, Freret, M.. Radiation Oncology On-Call Handbook: CNS emergencies. Association of Residents in Radiation Oncology. December  2025.</a:t>
            </a:r>
          </a:p>
        </p:txBody>
      </p:sp>
    </p:spTree>
    <p:extLst>
      <p:ext uri="{BB962C8B-B14F-4D97-AF65-F5344CB8AC3E}">
        <p14:creationId xmlns:p14="http://schemas.microsoft.com/office/powerpoint/2010/main" val="1167265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1560</TotalTime>
  <Words>1531</Words>
  <Application>Microsoft Macintosh PowerPoint</Application>
  <PresentationFormat>Widescreen</PresentationFormat>
  <Paragraphs>213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TwitterChirp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Zhao, Stephanie</dc:creator>
  <cp:lastModifiedBy>Neibart, Shane S.,MD, MS</cp:lastModifiedBy>
  <cp:revision>58</cp:revision>
  <dcterms:created xsi:type="dcterms:W3CDTF">2025-09-07T19:48:56Z</dcterms:created>
  <dcterms:modified xsi:type="dcterms:W3CDTF">2025-12-22T15:27:31Z</dcterms:modified>
</cp:coreProperties>
</file>