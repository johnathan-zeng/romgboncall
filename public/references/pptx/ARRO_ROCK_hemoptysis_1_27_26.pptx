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EF6F1-759E-4EF4-9121-68C68B6F336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E4F01-6B09-4502-A144-231B2AFD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E4F01-6B09-4502-A144-231B2AFD52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0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A428-00EE-35FE-D5FC-27D2D7AC9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58D52-C024-4FB7-7A36-BCE97340B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01A6-3E36-91AE-04BF-8BA431E8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543A3-DAD8-A962-D19E-76F6BBAA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19767-7055-6345-619B-D9A63B6B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1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F000-4F79-F4C0-E6BF-467F540F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A7D4A-A140-1071-0847-19934A2A0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19B58-9C68-B72E-5E1F-131110BE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09EF0-6F07-BF10-41F1-D0199CB8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03995-EF7D-FECB-7546-E35718EE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6B04-4484-69EB-7448-257DC4C8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5E2AE-20F5-0F59-BE5B-4F0254973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1FE3D-0F23-D777-A38C-90648192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07342-8B26-3E15-4580-6D5FCCDD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92EE4-3B7C-BA73-D536-B59185ED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0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3E41-7391-9F88-FEBA-7CB2AEB9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3021-0A5B-373F-CD5F-54E60857E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62A87-B750-5206-57F1-1153DB827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031B6-2E7F-0575-4CCF-7BA65EB0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5CA12-7BC0-36A3-1393-A56A5172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5B98A-DE7B-2BD6-6A1D-9778ECD8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8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EE83-C461-7655-BAFB-44D8E475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7F06-C1DF-42A1-367E-BC64965FE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D3F78-3BC2-01D5-5D8C-0201353AB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43454-E433-08F5-5C57-22675E768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4F107-7318-24F7-E361-A5C05667D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28882-0AE5-9D1B-4293-F3704954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7ECC62-663E-D2F4-B8EC-027261ED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0CDE8-A0FB-6B6D-B202-2C26D371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1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7E65-B370-C2AB-D72D-B8287F21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BCED9-8594-2D8E-C026-146E28EC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EAD37-9A58-1916-D537-141D7B61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59C77-CAB2-16E9-99A4-6189E65D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D5620-ADD5-4656-8CEB-F51E620D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6985A-5C1B-2B66-0772-EC42C7CC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5B13D-F100-9808-9E45-55606CEC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7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C534-20DB-C2C1-582D-D284032A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0CAD-3C3B-7CC1-43FC-E69668F09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C9EBB-01B6-D171-8B68-268CEE9AD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0329B-248B-AADE-38E5-61103D87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9F90B-B2F0-6488-3B15-663A0D58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8EAB3-C580-3783-6CD7-462F60BA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85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CC34-8B9F-6FA9-8C2B-A94C7A20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EED54D-63D7-D7A0-95F3-7397F8927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13E25-D0A3-392D-2822-94DBD442D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75E5A-0A3D-7EDF-3617-C8095FD9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9F924-0CB6-429A-82E8-05D78D9A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5D9D8-0A1D-115A-AF5C-C82FA81E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4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E057-9232-5308-6D36-7C784EC9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595AC-9651-AD2F-5599-C9C8500F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15DDB-5E65-D985-28CC-751538F3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7BA3A-44EB-80C5-048E-3CB1CBB3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7F46-E39C-5D46-9B0E-F352B018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B3751-1C3D-22F9-4DDA-7621037B8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12D37-9739-F9E8-20C2-46C841C2B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C75DD-8BF2-C1CF-DFB3-6112EA1F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B4537-9C2B-2740-12C0-C823F685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62379-5FBF-27AD-ADB6-D1B1BFDF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2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29B09-9CAE-40CF-39FC-63A65681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E52D9-CD0E-8FD8-E5D9-876FE4D17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4640-8C6E-2B11-4429-3C78F1F7C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8C543-C448-4CCB-B3A5-4C9B2389649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4D6BC-48F3-BB3D-FB60-0CE1DE4A2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1B74-F602-4DD6-E385-82C2CAFB5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F274E-59C2-4452-848C-48FA9A4A3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0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DA1711-F219-4B70-C330-1E4BDEDDE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4" y="1334530"/>
            <a:ext cx="7735755" cy="4808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2D485-3DC3-B3E4-9AE4-2518C72D4600}"/>
              </a:ext>
            </a:extLst>
          </p:cNvPr>
          <p:cNvSpPr txBox="1"/>
          <p:nvPr/>
        </p:nvSpPr>
        <p:spPr>
          <a:xfrm>
            <a:off x="2710248" y="94779"/>
            <a:ext cx="6005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Hemoptysis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20D9E-D09D-DED8-733D-26A903497BA0}"/>
              </a:ext>
            </a:extLst>
          </p:cNvPr>
          <p:cNvSpPr txBox="1"/>
          <p:nvPr/>
        </p:nvSpPr>
        <p:spPr>
          <a:xfrm>
            <a:off x="90922" y="821044"/>
            <a:ext cx="763617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b="1" dirty="0"/>
              <a:t>Chief complaint: </a:t>
            </a:r>
            <a:r>
              <a:rPr lang="en-US" sz="1200" dirty="0"/>
              <a:t>coughing up blood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4F3AF-FE01-2AC0-34A6-938D65B33286}"/>
              </a:ext>
            </a:extLst>
          </p:cNvPr>
          <p:cNvSpPr txBox="1"/>
          <p:nvPr/>
        </p:nvSpPr>
        <p:spPr>
          <a:xfrm>
            <a:off x="7817708" y="821044"/>
            <a:ext cx="4254844" cy="603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Triage: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Assess hemodynamic stability and respiratory status (pulse ox, blood pressure, ability to clear airway on own). 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accent1"/>
                </a:solidFill>
              </a:rPr>
              <a:t>Massive hemoptysis typically involves tumor invasion of a major vessel and is often dramatic and quickly fatal.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accent1"/>
                </a:solidFill>
              </a:rPr>
              <a:t>More frequently, seen as a small amount of bleeding in mucous or with coughing, representing tumor eroding into small intrapleural vessel or friable endobronchial tumor.</a:t>
            </a:r>
            <a:endParaRPr lang="en-US" sz="1100" b="1" dirty="0">
              <a:solidFill>
                <a:schemeClr val="accent1"/>
              </a:solidFill>
            </a:endParaRPr>
          </a:p>
          <a:p>
            <a:r>
              <a:rPr lang="en-US" sz="1100" b="1" dirty="0"/>
              <a:t>Workup: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History with attention to comorbidities, anti-coagulation (AC), cancer history, treatment history (</a:t>
            </a:r>
            <a:r>
              <a:rPr lang="en-US" sz="1100" u="sng" dirty="0"/>
              <a:t>central SBRT</a:t>
            </a:r>
            <a:r>
              <a:rPr lang="en-US" sz="1100" dirty="0"/>
              <a:t>?, </a:t>
            </a:r>
            <a:r>
              <a:rPr lang="en-US" sz="1100" u="sng" dirty="0"/>
              <a:t>bevacizumab</a:t>
            </a:r>
            <a:r>
              <a:rPr lang="en-US" sz="1100" dirty="0"/>
              <a:t>?), recent interventions (bronchoscopic biopsy). Quantify amount of bleeding, duration, progression. Lab work with CBC. CT Chest with contrast / CT Angio. Focused clinical exam.</a:t>
            </a:r>
          </a:p>
          <a:p>
            <a:pPr>
              <a:spcAft>
                <a:spcPts val="600"/>
              </a:spcAft>
            </a:pPr>
            <a:r>
              <a:rPr lang="en-US" sz="1100" b="1" dirty="0"/>
              <a:t>Management:</a:t>
            </a:r>
          </a:p>
          <a:p>
            <a:pPr>
              <a:spcAft>
                <a:spcPts val="600"/>
              </a:spcAft>
            </a:pPr>
            <a:r>
              <a:rPr lang="en-US" sz="1100" u="sng" dirty="0"/>
              <a:t>Medical</a:t>
            </a:r>
            <a:r>
              <a:rPr lang="en-US" sz="1100" dirty="0"/>
              <a:t>: Transfusion &gt; fluids if anemic or hemodynamically unstable, consider holding AC.</a:t>
            </a:r>
          </a:p>
          <a:p>
            <a:r>
              <a:rPr lang="en-US" sz="1100" u="sng" dirty="0"/>
              <a:t>Non-Radiation Intervention</a:t>
            </a:r>
            <a:r>
              <a:rPr lang="en-US" sz="1100" dirty="0"/>
              <a:t>: If non-life-threatening hemoptysis, then bronchoscopy (coordinate with interventional pulmonology team) is often required to establish diagnosis and exact location of bleeding.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Able to obtain path if new diagnosis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100" dirty="0"/>
              <a:t>Local therapeutic interventions available during bronchoscopy</a:t>
            </a:r>
            <a:endParaRPr lang="en-US" sz="1100" b="1" dirty="0"/>
          </a:p>
          <a:p>
            <a:r>
              <a:rPr lang="en-US" sz="1100" b="1" dirty="0"/>
              <a:t>Radiation Treatment: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Once acute bleeding is stabilized, RT can offer more durable control with aim of reducing risk of future bleeding.</a:t>
            </a:r>
          </a:p>
          <a:p>
            <a:pPr>
              <a:spcAft>
                <a:spcPts val="600"/>
              </a:spcAft>
            </a:pPr>
            <a:r>
              <a:rPr lang="en-US" sz="1100" u="sng" dirty="0"/>
              <a:t>Dose and Fractionation</a:t>
            </a:r>
            <a:r>
              <a:rPr lang="en-US" sz="1100" dirty="0"/>
              <a:t>: Definitive regimens if appropriate. Consider palliative regimens such as 8 Gy in 1 fx, 20 Gy in 5 fx, 30 Gy in 10 fx.</a:t>
            </a:r>
          </a:p>
          <a:p>
            <a:pPr>
              <a:spcAft>
                <a:spcPts val="600"/>
              </a:spcAft>
            </a:pPr>
            <a:r>
              <a:rPr lang="en-US" sz="1100" u="sng" dirty="0"/>
              <a:t>Expected Response and Durability</a:t>
            </a:r>
            <a:r>
              <a:rPr lang="en-US" sz="1100" dirty="0"/>
              <a:t>: Response rates &gt; 70% within period of days to weeks.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ED648-3B1A-84B4-CFE8-DFF70830D824}"/>
              </a:ext>
            </a:extLst>
          </p:cNvPr>
          <p:cNvSpPr/>
          <p:nvPr/>
        </p:nvSpPr>
        <p:spPr>
          <a:xfrm>
            <a:off x="74446" y="1268627"/>
            <a:ext cx="7644408" cy="549459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1EE60-C952-356E-F9EA-EF21F0759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2" y="60827"/>
            <a:ext cx="2999803" cy="7164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74AF6D-6F8F-BBA3-0B42-406F841B5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984" y="53126"/>
            <a:ext cx="885568" cy="7296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904722-611B-A0FA-5278-8C895FF141DE}"/>
              </a:ext>
            </a:extLst>
          </p:cNvPr>
          <p:cNvSpPr txBox="1"/>
          <p:nvPr/>
        </p:nvSpPr>
        <p:spPr>
          <a:xfrm>
            <a:off x="7817708" y="215566"/>
            <a:ext cx="33198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Arthur M, Doss VL, Kozono D. Radiation Oncology On-Call Handbook: Hemoptysis. Association of Residents in Radiation Oncology. January 23</a:t>
            </a:r>
            <a:r>
              <a:rPr lang="en-US" sz="900" baseline="30000" dirty="0"/>
              <a:t>rd</a:t>
            </a:r>
            <a:r>
              <a:rPr lang="en-US" sz="900" dirty="0"/>
              <a:t>, 2026.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4A27CE-CED1-F886-E2E2-B348BFDA48A5}"/>
              </a:ext>
            </a:extLst>
          </p:cNvPr>
          <p:cNvSpPr txBox="1"/>
          <p:nvPr/>
        </p:nvSpPr>
        <p:spPr>
          <a:xfrm>
            <a:off x="114798" y="5181822"/>
            <a:ext cx="3122672" cy="15542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Sense of Urgency: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Massive hemoptysis </a:t>
            </a:r>
            <a:r>
              <a:rPr lang="en-US" sz="105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sz="1050" dirty="0">
                <a:solidFill>
                  <a:schemeClr val="tx2"/>
                </a:solidFill>
              </a:rPr>
              <a:t> emergent (non-radiation)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Stable, but requiring inpatient management and transfusions or increasing volume of hemoptysis </a:t>
            </a:r>
            <a:r>
              <a:rPr lang="en-US" sz="105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sz="1050" dirty="0">
                <a:solidFill>
                  <a:schemeClr val="tx2"/>
                </a:solidFill>
              </a:rPr>
              <a:t> urgent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Small volume (blood-tinged mucous), stable, outpatient setting </a:t>
            </a:r>
            <a:r>
              <a:rPr lang="en-US" sz="105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sz="1050" dirty="0">
                <a:solidFill>
                  <a:schemeClr val="tx2"/>
                </a:solidFill>
              </a:rPr>
              <a:t> non-urgent, typical outpatient timeline</a:t>
            </a:r>
          </a:p>
        </p:txBody>
      </p:sp>
    </p:spTree>
    <p:extLst>
      <p:ext uri="{BB962C8B-B14F-4D97-AF65-F5344CB8AC3E}">
        <p14:creationId xmlns:p14="http://schemas.microsoft.com/office/powerpoint/2010/main" val="326479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BDBE23-E656-3558-ADC5-CF656BC7282C}"/>
              </a:ext>
            </a:extLst>
          </p:cNvPr>
          <p:cNvSpPr txBox="1"/>
          <p:nvPr/>
        </p:nvSpPr>
        <p:spPr>
          <a:xfrm>
            <a:off x="448962" y="1967890"/>
            <a:ext cx="988540" cy="56185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Patient presents with hemoptysis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C0F80-5D7A-4194-B2BC-82218D3902E9}"/>
              </a:ext>
            </a:extLst>
          </p:cNvPr>
          <p:cNvSpPr txBox="1"/>
          <p:nvPr/>
        </p:nvSpPr>
        <p:spPr>
          <a:xfrm>
            <a:off x="1696989" y="1814656"/>
            <a:ext cx="1250610" cy="117479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Assess: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Hemodynamic stability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Respiratory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Quantify bleeding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19D10-1504-D87C-007E-3AF4A1972BA2}"/>
              </a:ext>
            </a:extLst>
          </p:cNvPr>
          <p:cNvSpPr txBox="1"/>
          <p:nvPr/>
        </p:nvSpPr>
        <p:spPr>
          <a:xfrm>
            <a:off x="2398043" y="1137885"/>
            <a:ext cx="988540" cy="561856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Unstable, massive hemoptysis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120EA-858B-1F5F-362D-398603ECC871}"/>
              </a:ext>
            </a:extLst>
          </p:cNvPr>
          <p:cNvSpPr txBox="1"/>
          <p:nvPr/>
        </p:nvSpPr>
        <p:spPr>
          <a:xfrm>
            <a:off x="2352545" y="3078822"/>
            <a:ext cx="988540" cy="561856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Stable, small volume hemoptysis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B905E-E75A-FC13-5F85-7E51A1F4825B}"/>
              </a:ext>
            </a:extLst>
          </p:cNvPr>
          <p:cNvSpPr txBox="1"/>
          <p:nvPr/>
        </p:nvSpPr>
        <p:spPr>
          <a:xfrm>
            <a:off x="3525795" y="639866"/>
            <a:ext cx="1589903" cy="117479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Emergent non-radiation management: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Transfusion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Hemodynamic and airway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Bronchoscopic intervention if possible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870F8-4F49-BD24-90DA-4C691E5273A2}"/>
              </a:ext>
            </a:extLst>
          </p:cNvPr>
          <p:cNvSpPr txBox="1"/>
          <p:nvPr/>
        </p:nvSpPr>
        <p:spPr>
          <a:xfrm>
            <a:off x="3452421" y="2165360"/>
            <a:ext cx="1767018" cy="2464594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Workup:</a:t>
            </a:r>
          </a:p>
          <a:p>
            <a:r>
              <a:rPr lang="en-US" sz="900" u="sng" dirty="0"/>
              <a:t>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Comorbidities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Medications (AC)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Cancer diagnoses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Treatments (central SBRT, bevacizumab?)</a:t>
            </a:r>
          </a:p>
          <a:p>
            <a:r>
              <a:rPr lang="en-US" sz="900" u="sng" dirty="0"/>
              <a:t>Labs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CBC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INR if on coumadin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(TSH, LDH, AFP, </a:t>
            </a:r>
            <a:r>
              <a:rPr lang="el-GR" sz="900" dirty="0"/>
              <a:t>β</a:t>
            </a:r>
            <a:r>
              <a:rPr lang="en-US" sz="900" dirty="0"/>
              <a:t>-HCG if new anterior mediastinal mass)</a:t>
            </a:r>
          </a:p>
          <a:p>
            <a:r>
              <a:rPr lang="en-US" sz="900" u="sng" dirty="0"/>
              <a:t>Imaging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CT Chest with Contrast / CT Angio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A30944-0603-B104-8A12-663D2E9D9ECC}"/>
              </a:ext>
            </a:extLst>
          </p:cNvPr>
          <p:cNvSpPr txBox="1"/>
          <p:nvPr/>
        </p:nvSpPr>
        <p:spPr>
          <a:xfrm>
            <a:off x="5596323" y="2867144"/>
            <a:ext cx="988540" cy="56185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Tumor-associated bleeding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4B8A8B-410B-DA91-5487-CC1B563D8451}"/>
              </a:ext>
            </a:extLst>
          </p:cNvPr>
          <p:cNvSpPr txBox="1"/>
          <p:nvPr/>
        </p:nvSpPr>
        <p:spPr>
          <a:xfrm>
            <a:off x="7480794" y="2416690"/>
            <a:ext cx="1672282" cy="163449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Coordination with interventional pulmonology for potential bronchoscopy: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Biopsy if new diagnosis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Localize source of bleeding if unclear from imaging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Local therapeutic interventions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30442-F919-ED50-EE13-8F79C4FE5713}"/>
              </a:ext>
            </a:extLst>
          </p:cNvPr>
          <p:cNvSpPr txBox="1"/>
          <p:nvPr/>
        </p:nvSpPr>
        <p:spPr>
          <a:xfrm>
            <a:off x="7386057" y="4421493"/>
            <a:ext cx="1861755" cy="132802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Radiation Therapy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Consider definitive regimen if new diagnosis of locally advanced disease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Palliative regimens (EBRT):</a:t>
            </a:r>
          </a:p>
          <a:p>
            <a:pPr marL="461963" lvl="1" indent="-171450">
              <a:buFont typeface="Arial" panose="020B0604020202020204" pitchFamily="34" charset="0"/>
              <a:buChar char="•"/>
            </a:pPr>
            <a:r>
              <a:rPr lang="en-US" sz="900" dirty="0"/>
              <a:t>8 Gy/1fx</a:t>
            </a:r>
          </a:p>
          <a:p>
            <a:pPr marL="461963" lvl="1" indent="-171450">
              <a:buFont typeface="Arial" panose="020B0604020202020204" pitchFamily="34" charset="0"/>
              <a:buChar char="•"/>
            </a:pPr>
            <a:r>
              <a:rPr lang="en-US" sz="900" dirty="0"/>
              <a:t>20Gy/5fx</a:t>
            </a:r>
          </a:p>
          <a:p>
            <a:pPr marL="461963" lvl="1" indent="-171450">
              <a:buFont typeface="Arial" panose="020B0604020202020204" pitchFamily="34" charset="0"/>
              <a:buChar char="•"/>
            </a:pPr>
            <a:r>
              <a:rPr lang="en-US" sz="900" dirty="0"/>
              <a:t>30Gy/10fx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2480E-48E4-E41E-AEFE-AD17FFAAA833}"/>
              </a:ext>
            </a:extLst>
          </p:cNvPr>
          <p:cNvSpPr txBox="1"/>
          <p:nvPr/>
        </p:nvSpPr>
        <p:spPr>
          <a:xfrm>
            <a:off x="6138151" y="1893480"/>
            <a:ext cx="1260071" cy="86832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Consider: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Holding anticoagulation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Transfusion if needed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02F107-73C9-CEFF-D3C0-934502442CD1}"/>
              </a:ext>
            </a:extLst>
          </p:cNvPr>
          <p:cNvSpPr txBox="1"/>
          <p:nvPr/>
        </p:nvSpPr>
        <p:spPr>
          <a:xfrm>
            <a:off x="5378016" y="4651344"/>
            <a:ext cx="1732007" cy="868323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1"/>
                </a:solidFill>
              </a:rPr>
              <a:t>Expect: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accent1"/>
                </a:solidFill>
              </a:rPr>
              <a:t>Response rate &gt; 70%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accent1"/>
                </a:solidFill>
              </a:rPr>
              <a:t>Initial response 1-5 days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accent1"/>
                </a:solidFill>
              </a:rPr>
              <a:t>Maximal response up to 2 weeks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86C17-3203-A42D-0DD1-BBBFFCA899C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437502" y="2248818"/>
            <a:ext cx="259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48235B-0839-1210-3E80-613D5C7A92DA}"/>
              </a:ext>
            </a:extLst>
          </p:cNvPr>
          <p:cNvCxnSpPr>
            <a:stCxn id="12" idx="1"/>
            <a:endCxn id="14" idx="3"/>
          </p:cNvCxnSpPr>
          <p:nvPr/>
        </p:nvCxnSpPr>
        <p:spPr>
          <a:xfrm flipH="1">
            <a:off x="7110023" y="5085505"/>
            <a:ext cx="2760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40B51CC-D28E-B343-AFD8-F470535DFD24}"/>
              </a:ext>
            </a:extLst>
          </p:cNvPr>
          <p:cNvCxnSpPr>
            <a:endCxn id="10" idx="1"/>
          </p:cNvCxnSpPr>
          <p:nvPr/>
        </p:nvCxnSpPr>
        <p:spPr>
          <a:xfrm>
            <a:off x="5219439" y="3148072"/>
            <a:ext cx="3768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15AD55-4AF4-9B79-838B-812FBB2857B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584863" y="3148072"/>
            <a:ext cx="895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3BE74E7-2002-9496-02AA-17B92A81D41D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8316935" y="4051180"/>
            <a:ext cx="0" cy="37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86CD2558-896B-855A-2EC1-1DBA2BB76F9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47599" y="2402051"/>
            <a:ext cx="504822" cy="9956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2B5562A-7A25-8A65-DAF7-209419F7CBB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2947599" y="1227261"/>
            <a:ext cx="578196" cy="1113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B6893CB2-FDC2-9BF7-C63E-107D9C69B6CA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6795023" y="2734967"/>
            <a:ext cx="386269" cy="43994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3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489</Words>
  <Application>Microsoft Office PowerPoint</Application>
  <PresentationFormat>Widescreen</PresentationFormat>
  <Paragraphs>64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Doss</dc:creator>
  <cp:lastModifiedBy>Victoria Doss</cp:lastModifiedBy>
  <cp:revision>3</cp:revision>
  <dcterms:created xsi:type="dcterms:W3CDTF">2025-12-04T16:15:14Z</dcterms:created>
  <dcterms:modified xsi:type="dcterms:W3CDTF">2026-01-28T15:15:28Z</dcterms:modified>
</cp:coreProperties>
</file>