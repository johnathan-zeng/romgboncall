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Play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h/Zrt5Cb/Znu027KjHDZdj7Duw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font" Target="fonts/Play-bold.fntdata"/><Relationship Id="rId9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79eb9c5d8_0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d79eb9c5d8_0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g3d79eb9c5d8_0_1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0bcf6c32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d0bcf6c32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0bcf6c32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0fa3c46e4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d0fa3c46e4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g3d0fa3c46e4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79eb9c5d8_0_127"/>
          <p:cNvSpPr txBox="1"/>
          <p:nvPr/>
        </p:nvSpPr>
        <p:spPr>
          <a:xfrm>
            <a:off x="2710248" y="94779"/>
            <a:ext cx="600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Dysphagia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d79eb9c5d8_0_127"/>
          <p:cNvSpPr txBox="1"/>
          <p:nvPr/>
        </p:nvSpPr>
        <p:spPr>
          <a:xfrm>
            <a:off x="90922" y="772256"/>
            <a:ext cx="7511700" cy="276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Chief complaint: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Trouble swallowing, food/drink “getting stuck”, vomiting/regurgitating w/wo aspiraiton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d79eb9c5d8_0_127"/>
          <p:cNvSpPr txBox="1"/>
          <p:nvPr/>
        </p:nvSpPr>
        <p:spPr>
          <a:xfrm>
            <a:off x="7741919" y="804457"/>
            <a:ext cx="4359300" cy="587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en-US" sz="9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Triage:</a:t>
            </a:r>
            <a:r>
              <a:rPr b="0" i="0" lang="en-US" sz="9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95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Assess obstruction status (partial vs full). Assess nutritional status. Hospitalization for PO intolerance, feeding tube, TPN, etc.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en-US" sz="9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Workup: </a:t>
            </a:r>
            <a:endParaRPr b="0" i="0" sz="95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History with attention to comorbidities, anti-coagulation (AC), treatment history, recent interventions/surgeries. 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 work with CBC, CMP, coagulation panel. 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Imaging: CT-Chest w/contrast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Endoscopy: EGD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en-US" sz="9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Consults: </a:t>
            </a:r>
            <a:endParaRPr b="0" i="0" sz="95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1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Surgery </a:t>
            </a:r>
            <a:endParaRPr b="1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(Trauma, Surg-Onc, Thoracic for esophageal mass, etc.)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G-tube, Ex-lap, etc.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1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Interventional </a:t>
            </a: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 (i-GI), Interventional Radiology (IR)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Esophageal Patency: Stenting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Tumor-directed: Resection, ablation, cryotherapy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1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Nutrition</a:t>
            </a:r>
            <a:endParaRPr b="1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 nutritional status (G-tube, TPN, etc.)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en-US" sz="9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Severity:</a:t>
            </a:r>
            <a:endParaRPr b="0" i="0" sz="95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1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Acute obstruction </a:t>
            </a: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(cannot take PO, aspiration risk)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Intervention: Stenting, ablation, cryo-tx, etc.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 nutritional status (G-tube, TPN, etc.)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1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Non-acute</a:t>
            </a:r>
            <a:endParaRPr b="1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Inpatient or outpatient RT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Radiotherapy:</a:t>
            </a:r>
            <a:endParaRPr b="0" i="0" sz="95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1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Definitive</a:t>
            </a: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regimens as part of multidisciplinary therapy if appropriate (new diagnosis, localized).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Conventional fractionation, w/wo chemo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1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Palliative</a:t>
            </a:r>
            <a:endParaRPr b="1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Range from moderate dose (20/5, 30/10, 25/5) to heavier dose (36-45Gy total dose in ~3 Gy/fx)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1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Tips:</a:t>
            </a:r>
            <a:endParaRPr b="1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Monitor for change in positioning of stent throughout treatment (seen on CBCT), consider adaptive plan if improvement in aeration during treatment. 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g3d79eb9c5d8_0_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22" y="53126"/>
            <a:ext cx="2999802" cy="716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d79eb9c5d8_0_1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86984" y="53126"/>
            <a:ext cx="885568" cy="72963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d79eb9c5d8_0_127"/>
          <p:cNvSpPr txBox="1"/>
          <p:nvPr/>
        </p:nvSpPr>
        <p:spPr>
          <a:xfrm>
            <a:off x="7875373" y="206840"/>
            <a:ext cx="3072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***Insert citation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g3d79eb9c5d8_0_1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925" y="1442100"/>
            <a:ext cx="7376674" cy="529539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3d79eb9c5d8_0_127"/>
          <p:cNvSpPr txBox="1"/>
          <p:nvPr/>
        </p:nvSpPr>
        <p:spPr>
          <a:xfrm>
            <a:off x="4724400" y="1835923"/>
            <a:ext cx="2743200" cy="554100"/>
          </a:xfrm>
          <a:prstGeom prst="rect">
            <a:avLst/>
          </a:prstGeom>
          <a:solidFill>
            <a:srgbClr val="D9E5F8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841"/>
              </a:buClr>
              <a:buSzPts val="1000"/>
              <a:buFont typeface="Arial"/>
              <a:buNone/>
            </a:pPr>
            <a:r>
              <a:rPr b="1" i="1" lang="en-US" sz="1000" u="none" cap="none" strike="noStrike">
                <a:solidFill>
                  <a:srgbClr val="0E2841"/>
                </a:solidFill>
                <a:latin typeface="Arial"/>
                <a:ea typeface="Arial"/>
                <a:cs typeface="Arial"/>
                <a:sym typeface="Arial"/>
              </a:rPr>
              <a:t>Obstructive Esophageal Mass Oncology Differential</a:t>
            </a:r>
            <a:r>
              <a:rPr b="0" i="1" lang="en-US" sz="1000" u="none" cap="none" strike="noStrike">
                <a:solidFill>
                  <a:srgbClr val="0E2841"/>
                </a:solidFill>
                <a:latin typeface="Arial"/>
                <a:ea typeface="Arial"/>
                <a:cs typeface="Arial"/>
                <a:sym typeface="Arial"/>
              </a:rPr>
              <a:t>: Most likely primary esophageal malignancy (AdenoCa, SCC)</a:t>
            </a:r>
            <a:endParaRPr b="0" i="0" sz="1800" u="none" cap="none" strike="noStrike">
              <a:solidFill>
                <a:srgbClr val="0E28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0bcf6c326_0_0"/>
          <p:cNvSpPr txBox="1"/>
          <p:nvPr/>
        </p:nvSpPr>
        <p:spPr>
          <a:xfrm>
            <a:off x="2710248" y="94779"/>
            <a:ext cx="600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 Bleeding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d0bcf6c326_0_0"/>
          <p:cNvSpPr txBox="1"/>
          <p:nvPr/>
        </p:nvSpPr>
        <p:spPr>
          <a:xfrm>
            <a:off x="90922" y="772256"/>
            <a:ext cx="7511700" cy="261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Chief complaint: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Hematemesis/Hematochezia/Melena, signs of anemia/hypotension (lightheaded/syncope, etc.)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d0bcf6c326_0_0"/>
          <p:cNvSpPr txBox="1"/>
          <p:nvPr/>
        </p:nvSpPr>
        <p:spPr>
          <a:xfrm>
            <a:off x="7741919" y="804457"/>
            <a:ext cx="4359300" cy="587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en-US" sz="9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Triage:</a:t>
            </a:r>
            <a:r>
              <a:rPr b="0" i="0" lang="en-US" sz="9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95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Assess hemodynamic stability (BP’s, CBC); hospitalize if hemodynamically unstable or transfusion-dependent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Locate source of bleeding (upper GI vs lower GI)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Upper GI: Hematemesis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Lower GI: Hematochezia, melena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en-US" sz="9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Workup: </a:t>
            </a:r>
            <a:endParaRPr b="0" i="0" sz="95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History with attention to onset/duration of sx’s, types of sx’s to determine location (Upper vs Lower GI), comorbidities, anti-coagulation (AC), treatment history, recent interventions/surgeries. 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 work with CBC, coagulation panel. 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Imaging: CT-CAP w/contrast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Endoscopy: EGD &amp; Colonoscopy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en-US" sz="9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Consults: </a:t>
            </a:r>
            <a:endParaRPr b="0" i="0" sz="95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1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Surgery </a:t>
            </a:r>
            <a:endParaRPr b="1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(Trauma, Surg-Onc, Thoracic for esophageal mass, Colorectal, etc.)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Ex-lap, etc.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1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Interventional </a:t>
            </a: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 (i-GI), Interventional Radiology (IR)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Tumor directed: Cauterization/ablation/cyro-tx of bleed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en-US" sz="9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Severity:</a:t>
            </a:r>
            <a:endParaRPr b="0" i="0" sz="95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1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Hemodynamically unstable (hypotensive) or Severe anemia (Hgb&lt;7)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Interventional consults as above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Blood transfusions until stable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1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Non-acute</a:t>
            </a:r>
            <a:endParaRPr b="1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Inpatient or outpatient RT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Radiotherapy:</a:t>
            </a:r>
            <a:endParaRPr b="0" i="0" sz="95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1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Definitive</a:t>
            </a: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regimens as part of multidisciplinary therapy if appropriate (new diagnosis, localized).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1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Palliative</a:t>
            </a:r>
            <a:endParaRPr b="1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Moderate dose: 20/5, 30/10, 25/5 (especially for esophageal/EGJ or rectal)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Site specific: Consider 36-39 Gy in 3Gy/fx for Esophageal/Gastric tumors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g3d0bcf6c32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22" y="53126"/>
            <a:ext cx="2999802" cy="716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3d0bcf6c326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86984" y="53126"/>
            <a:ext cx="885568" cy="72963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d0bcf6c326_0_0"/>
          <p:cNvSpPr txBox="1"/>
          <p:nvPr/>
        </p:nvSpPr>
        <p:spPr>
          <a:xfrm>
            <a:off x="7875373" y="206840"/>
            <a:ext cx="3072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***Insert citation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g3d0bcf6c326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1319581"/>
            <a:ext cx="7315199" cy="538601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d0bcf6c326_0_0"/>
          <p:cNvSpPr txBox="1"/>
          <p:nvPr/>
        </p:nvSpPr>
        <p:spPr>
          <a:xfrm>
            <a:off x="4724400" y="1835923"/>
            <a:ext cx="2743200" cy="861900"/>
          </a:xfrm>
          <a:prstGeom prst="rect">
            <a:avLst/>
          </a:prstGeom>
          <a:solidFill>
            <a:srgbClr val="D9E5F8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841"/>
              </a:buClr>
              <a:buSzPts val="1000"/>
              <a:buFont typeface="Arial"/>
              <a:buNone/>
            </a:pPr>
            <a:r>
              <a:rPr b="1" i="1" lang="en-US" sz="1000" u="none" cap="none" strike="noStrike">
                <a:solidFill>
                  <a:srgbClr val="0E2841"/>
                </a:solidFill>
                <a:latin typeface="Arial"/>
                <a:ea typeface="Arial"/>
                <a:cs typeface="Arial"/>
                <a:sym typeface="Arial"/>
              </a:rPr>
              <a:t>GI Bleed Differential</a:t>
            </a:r>
            <a:r>
              <a:rPr b="0" i="1" lang="en-US" sz="1000" u="none" cap="none" strike="noStrike">
                <a:solidFill>
                  <a:srgbClr val="0E2841"/>
                </a:solidFill>
                <a:latin typeface="Arial"/>
                <a:ea typeface="Arial"/>
                <a:cs typeface="Arial"/>
                <a:sym typeface="Arial"/>
              </a:rPr>
              <a:t>: Upper vs Lower GI (primary GI tumors vs metastases), non-oncologic causes (esophageal varices, bleeding from anticoagulation, hemorrhoids, etc.)</a:t>
            </a:r>
            <a:endParaRPr b="0" i="0" sz="1800" u="none" cap="none" strike="noStrike">
              <a:solidFill>
                <a:srgbClr val="0E28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0fa3c46e4_0_5"/>
          <p:cNvSpPr txBox="1"/>
          <p:nvPr/>
        </p:nvSpPr>
        <p:spPr>
          <a:xfrm>
            <a:off x="2710248" y="94779"/>
            <a:ext cx="600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Bowel Obstruction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d0fa3c46e4_0_5"/>
          <p:cNvSpPr txBox="1"/>
          <p:nvPr/>
        </p:nvSpPr>
        <p:spPr>
          <a:xfrm>
            <a:off x="90922" y="772256"/>
            <a:ext cx="7511700" cy="261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Chief complaint: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Lack of bowel movements, nausea/vomiting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d0fa3c46e4_0_5"/>
          <p:cNvSpPr txBox="1"/>
          <p:nvPr/>
        </p:nvSpPr>
        <p:spPr>
          <a:xfrm>
            <a:off x="7741919" y="804457"/>
            <a:ext cx="4359300" cy="4725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en-US" sz="9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Triage:</a:t>
            </a:r>
            <a:r>
              <a:rPr b="0" i="0" lang="en-US" sz="9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95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➢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Assess obstruction status (partial vs full), ask about last BM, passing gas, etc. Assess nutritional status. Hospitalization for PO intolerance, feeding tube, TPN, etc.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en-US" sz="9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Workup: </a:t>
            </a:r>
            <a:endParaRPr b="0" i="0" sz="95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History with attention to onset/duration of sx’s, types of sx’s to determine location (Upper vs Lower GI), comorbidities, anti-coagulation (AC), treatment history, recent interventions/surgeries. 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 work with CBC, coagulation panel. 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Imaging: CT-CAP w/contrast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Endoscopy: EGD &amp; Colonoscopy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en-US" sz="9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Consults: </a:t>
            </a:r>
            <a:endParaRPr b="0" i="0" sz="95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1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Surgery </a:t>
            </a:r>
            <a:endParaRPr b="1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NG-tube; ex-lap in urgent cases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1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Nutritional: TPN, etc.</a:t>
            </a:r>
            <a:endParaRPr b="1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1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Palliative care: </a:t>
            </a: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Medical Management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en-US" sz="9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Severity:</a:t>
            </a:r>
            <a:endParaRPr b="0" i="0" sz="95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1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 obstruction, bowel perforation/ischemia, etc.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Urgent Surgical Consult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1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Non-acute</a:t>
            </a:r>
            <a:endParaRPr b="1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Inpatient or outpatient RT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Radiotherapy:</a:t>
            </a:r>
            <a:endParaRPr b="0" i="0" sz="95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1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Definitive</a:t>
            </a: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regimens as part of multidisciplinary therapy if appropriate (new diagnosis, localized).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352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1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Palliative</a:t>
            </a:r>
            <a:endParaRPr b="1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➢"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 (20/5, 30/10, etc.)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g3d0fa3c46e4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22" y="53126"/>
            <a:ext cx="2999802" cy="716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d0fa3c46e4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86984" y="53126"/>
            <a:ext cx="885568" cy="72963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d0fa3c46e4_0_5"/>
          <p:cNvSpPr txBox="1"/>
          <p:nvPr/>
        </p:nvSpPr>
        <p:spPr>
          <a:xfrm>
            <a:off x="7875373" y="206840"/>
            <a:ext cx="3072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***Insert citation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g3d0fa3c46e4_0_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1248900"/>
            <a:ext cx="7494214" cy="54567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d0fa3c46e4_0_5"/>
          <p:cNvSpPr txBox="1"/>
          <p:nvPr/>
        </p:nvSpPr>
        <p:spPr>
          <a:xfrm>
            <a:off x="4724400" y="1835923"/>
            <a:ext cx="2743200" cy="708000"/>
          </a:xfrm>
          <a:prstGeom prst="rect">
            <a:avLst/>
          </a:prstGeom>
          <a:solidFill>
            <a:srgbClr val="D9E5F8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841"/>
              </a:buClr>
              <a:buSzPts val="1000"/>
              <a:buFont typeface="Arial"/>
              <a:buNone/>
            </a:pPr>
            <a:r>
              <a:rPr b="1" i="1" lang="en-US" sz="1000" u="none" cap="none" strike="noStrike">
                <a:solidFill>
                  <a:srgbClr val="0E2841"/>
                </a:solidFill>
                <a:latin typeface="Arial"/>
                <a:ea typeface="Arial"/>
                <a:cs typeface="Arial"/>
                <a:sym typeface="Arial"/>
              </a:rPr>
              <a:t>Bowel Obstruction:</a:t>
            </a:r>
            <a:r>
              <a:rPr b="0" i="1" lang="en-US" sz="1000" u="none" cap="none" strike="noStrike">
                <a:solidFill>
                  <a:srgbClr val="0E2841"/>
                </a:solidFill>
                <a:latin typeface="Arial"/>
                <a:ea typeface="Arial"/>
                <a:cs typeface="Arial"/>
                <a:sym typeface="Arial"/>
              </a:rPr>
              <a:t> Malignant (primary GI tumors vs pelvic tumors vs metastases), non-oncologic causes (bowel dysmotility, constipation, etc.)</a:t>
            </a:r>
            <a:endParaRPr b="0" i="0" sz="1800" u="none" cap="none" strike="noStrike">
              <a:solidFill>
                <a:srgbClr val="0E28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 txBox="1"/>
          <p:nvPr/>
        </p:nvSpPr>
        <p:spPr>
          <a:xfrm>
            <a:off x="3225187" y="146910"/>
            <a:ext cx="574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Overview of Gastrointestinal Emergencies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7685994" y="855491"/>
            <a:ext cx="4365000" cy="5972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Triage:</a:t>
            </a: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Bleeding: Assess hemodynamic stability, CBC. Hospitalization for instability or continuous transfusion needs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Dysphagia or Bowel Obstruction: Assess obstruction status (partial vs full), ask about last BM, passing gas, etc. Assess nutritional status. Hospitalization for PO intolerance, feeding tube, TPN, etc.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Pain: Assess degree of pain. Hospitalization for pain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Workup: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History with attention to comorbidities, anti-coagulation (AC), treatment history, recent interventions/surgeries.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 work with CBC, CMP, coagulation panel.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Focused clinical exam (e.g. DRE, palpation of painful mass)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Imaging: CT mainly (consider small bowel series for obstruction, etc.)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Endoscopy: EGD, colonoscopy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Consults: </a:t>
            </a: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(ALWAYS have surgical/interventional consult on board for acute management)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Surgery (Trauma, Surg-Onc, Thoracic for esophageal mass, Colorectal, etc.)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NG-tube, Ex-lap, etc.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Interventional GI (i-GI), Interventional Radiology (IR)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Cauterization of bleeds, stenting, etc.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(IR only: Nerve blocks)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8748274" y="146910"/>
            <a:ext cx="25490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Ho, A.. Radiation Oncology On-Call Handbook: Gastrointestinal Emergencies. Association of Residents in Radiation Oncology. September 15</a:t>
            </a:r>
            <a:r>
              <a:rPr b="0" baseline="30000" i="0" lang="en-US" sz="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US" sz="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,  2025.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lose-up of a logo&#10;&#10;AI-generated content may be incorrect." id="131" name="Google Shape;131;p1"/>
          <p:cNvPicPr preferRelativeResize="0"/>
          <p:nvPr/>
        </p:nvPicPr>
        <p:blipFill rotWithShape="1">
          <a:blip r:embed="rId3">
            <a:alphaModFix/>
          </a:blip>
          <a:srcRect b="26419" l="2978" r="2626" t="23029"/>
          <a:stretch/>
        </p:blipFill>
        <p:spPr>
          <a:xfrm>
            <a:off x="141119" y="92734"/>
            <a:ext cx="2947256" cy="88781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"/>
          <p:cNvSpPr txBox="1"/>
          <p:nvPr/>
        </p:nvSpPr>
        <p:spPr>
          <a:xfrm>
            <a:off x="141119" y="855491"/>
            <a:ext cx="7442395" cy="29238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Chief complaints</a:t>
            </a:r>
            <a:r>
              <a:rPr b="0" i="0" lang="en-US" sz="13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: Dysphagia, Bleeding (hematemesis or hematochezia), bowel obstruction, pain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141119" y="1227463"/>
            <a:ext cx="7423115" cy="1397743"/>
          </a:xfrm>
          <a:prstGeom prst="rect">
            <a:avLst/>
          </a:prstGeom>
          <a:noFill/>
          <a:ln cap="flat" cmpd="sng" w="95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and grey symbol with a microscope and a red and black sign&#10;&#10;AI-generated content may be incorrect." id="134" name="Google Shape;13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8800" y="-89519"/>
            <a:ext cx="980546" cy="98054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"/>
          <p:cNvSpPr/>
          <p:nvPr/>
        </p:nvSpPr>
        <p:spPr>
          <a:xfrm>
            <a:off x="262881" y="1670588"/>
            <a:ext cx="1017272" cy="621291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CC: Dysphagia, (Vomiting)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4386387" y="1671579"/>
            <a:ext cx="1017300" cy="6213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Diagnostics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CT w/contrast</a:t>
            </a:r>
            <a:b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EGD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/>
          <p:nvPr/>
        </p:nvSpPr>
        <p:spPr>
          <a:xfrm>
            <a:off x="3175093" y="1671574"/>
            <a:ext cx="1017300" cy="6213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i-GI (stent), Surgery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1366475" y="1582534"/>
            <a:ext cx="1722300" cy="8469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H&amp;P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Cachexia / Nutrition Status</a:t>
            </a:r>
            <a:b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Weight Loss over 3 mo.</a:t>
            </a:r>
            <a:b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Basic Labs 🡪 Albumin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/>
          <p:nvPr/>
        </p:nvSpPr>
        <p:spPr>
          <a:xfrm>
            <a:off x="209720" y="1272684"/>
            <a:ext cx="5244024" cy="206541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Dysphagia: In setting of known esophageal tumor or metastatic disease in esophagus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/>
          <p:nvPr/>
        </p:nvSpPr>
        <p:spPr>
          <a:xfrm>
            <a:off x="5725716" y="1272684"/>
            <a:ext cx="1722425" cy="1160764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Dose and Fx</a:t>
            </a:r>
            <a:br>
              <a:rPr b="0" i="0" lang="en-US" sz="10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Heavier (more durable): 30/10 to 39/13, 25/5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Lighter: 20/5, 8/1 (less favored)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/>
          <p:nvPr/>
        </p:nvSpPr>
        <p:spPr>
          <a:xfrm>
            <a:off x="141125" y="2625200"/>
            <a:ext cx="7423200" cy="1502700"/>
          </a:xfrm>
          <a:prstGeom prst="rect">
            <a:avLst/>
          </a:prstGeom>
          <a:noFill/>
          <a:ln cap="flat" cmpd="sng" w="95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209725" y="2685883"/>
            <a:ext cx="5346900" cy="2925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Bleeding: In setting of known primary lesion (e.g. rectal), or metastatic lesion involving bowel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/>
          <p:nvPr/>
        </p:nvSpPr>
        <p:spPr>
          <a:xfrm>
            <a:off x="262881" y="3089556"/>
            <a:ext cx="1017272" cy="790205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CC: Bleeding (distinguish upper vs lower)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"/>
          <p:cNvSpPr/>
          <p:nvPr/>
        </p:nvSpPr>
        <p:spPr>
          <a:xfrm>
            <a:off x="4445115" y="3092271"/>
            <a:ext cx="1017300" cy="10080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Diagnostics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CT w/contrast</a:t>
            </a:r>
            <a:b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EGD and/or Colonoscopy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CT-Angio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"/>
          <p:cNvSpPr/>
          <p:nvPr/>
        </p:nvSpPr>
        <p:spPr>
          <a:xfrm>
            <a:off x="3175006" y="3098126"/>
            <a:ext cx="1017300" cy="9963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i-Gi or IR (cauterization, ablation), Surgery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"/>
          <p:cNvSpPr/>
          <p:nvPr/>
        </p:nvSpPr>
        <p:spPr>
          <a:xfrm>
            <a:off x="1366413" y="3085835"/>
            <a:ext cx="1722300" cy="9447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H&amp;P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Acute vs. chronic sx’s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Hgb trend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 vs post transfusion Hgb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"/>
          <p:cNvSpPr/>
          <p:nvPr/>
        </p:nvSpPr>
        <p:spPr>
          <a:xfrm>
            <a:off x="5715256" y="2816569"/>
            <a:ext cx="1722425" cy="1211141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Dose and Fx</a:t>
            </a:r>
            <a:br>
              <a:rPr b="0" i="0" lang="en-US" sz="10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Heavier: 30/10, 25/5, 36/12 (if stomach)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Lighter: 20/5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"/>
          <p:cNvSpPr/>
          <p:nvPr/>
        </p:nvSpPr>
        <p:spPr>
          <a:xfrm>
            <a:off x="160399" y="4214312"/>
            <a:ext cx="7423115" cy="1397743"/>
          </a:xfrm>
          <a:prstGeom prst="rect">
            <a:avLst/>
          </a:prstGeom>
          <a:noFill/>
          <a:ln cap="flat" cmpd="sng" w="95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"/>
          <p:cNvSpPr/>
          <p:nvPr/>
        </p:nvSpPr>
        <p:spPr>
          <a:xfrm>
            <a:off x="209719" y="4298671"/>
            <a:ext cx="5346781" cy="161669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Bowel Obstruction: In setting of primary lesion (e.g. colon) or metastatic lesion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"/>
          <p:cNvSpPr/>
          <p:nvPr/>
        </p:nvSpPr>
        <p:spPr>
          <a:xfrm>
            <a:off x="209719" y="4600678"/>
            <a:ext cx="1017272" cy="790205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CC: Nausea, vomiting, no BM’s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"/>
          <p:cNvSpPr/>
          <p:nvPr/>
        </p:nvSpPr>
        <p:spPr>
          <a:xfrm>
            <a:off x="4386368" y="4544662"/>
            <a:ext cx="1017300" cy="10080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Diagnostics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Small Bowel Series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CT w/contrast</a:t>
            </a:r>
            <a:b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Colonoscopy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"/>
          <p:cNvSpPr/>
          <p:nvPr/>
        </p:nvSpPr>
        <p:spPr>
          <a:xfrm>
            <a:off x="3157343" y="4550517"/>
            <a:ext cx="1017300" cy="9963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Surgery (NG-tube, ex-lap, etc.)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"/>
          <p:cNvSpPr/>
          <p:nvPr/>
        </p:nvSpPr>
        <p:spPr>
          <a:xfrm>
            <a:off x="1331017" y="4576387"/>
            <a:ext cx="1722300" cy="9447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H&amp;P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Last BM, passing gas (partial vs full BO)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"/>
          <p:cNvSpPr/>
          <p:nvPr/>
        </p:nvSpPr>
        <p:spPr>
          <a:xfrm>
            <a:off x="5715256" y="4307612"/>
            <a:ext cx="1722425" cy="1211141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Dose and Fx</a:t>
            </a:r>
            <a:br>
              <a:rPr b="0" i="0" lang="en-US" sz="10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Heavier: 30/10, 25/5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Lighter: 20/5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"/>
          <p:cNvSpPr/>
          <p:nvPr/>
        </p:nvSpPr>
        <p:spPr>
          <a:xfrm>
            <a:off x="141119" y="5636963"/>
            <a:ext cx="7423200" cy="1074000"/>
          </a:xfrm>
          <a:prstGeom prst="rect">
            <a:avLst/>
          </a:prstGeom>
          <a:noFill/>
          <a:ln cap="flat" cmpd="sng" w="95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"/>
          <p:cNvSpPr/>
          <p:nvPr/>
        </p:nvSpPr>
        <p:spPr>
          <a:xfrm>
            <a:off x="227436" y="5703096"/>
            <a:ext cx="5346781" cy="161669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Pain: Usually soft tissue mass effect, could be nerve involvement as well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"/>
          <p:cNvSpPr/>
          <p:nvPr/>
        </p:nvSpPr>
        <p:spPr>
          <a:xfrm>
            <a:off x="227436" y="5969432"/>
            <a:ext cx="1017272" cy="635206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CC: Pain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"/>
          <p:cNvSpPr/>
          <p:nvPr/>
        </p:nvSpPr>
        <p:spPr>
          <a:xfrm>
            <a:off x="4386375" y="5916236"/>
            <a:ext cx="1017300" cy="741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Diagnostics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"/>
          <p:cNvSpPr/>
          <p:nvPr/>
        </p:nvSpPr>
        <p:spPr>
          <a:xfrm>
            <a:off x="3157364" y="5955832"/>
            <a:ext cx="1017300" cy="6639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Palliative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IR (nerve block)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"/>
          <p:cNvSpPr/>
          <p:nvPr/>
        </p:nvSpPr>
        <p:spPr>
          <a:xfrm>
            <a:off x="1366372" y="5955834"/>
            <a:ext cx="1722300" cy="6639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H&amp;P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Acute vs. chronic, duration, location, etc.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Physical Exam! (palpation)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"/>
          <p:cNvSpPr/>
          <p:nvPr/>
        </p:nvSpPr>
        <p:spPr>
          <a:xfrm>
            <a:off x="5707845" y="5716977"/>
            <a:ext cx="1722425" cy="949424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Dose and Fx</a:t>
            </a:r>
            <a:br>
              <a:rPr b="0" i="0" lang="en-US" sz="10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(SBRT for celiac plexus involvement, pain is challenging to manage)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Standard: 30/10, 20/5 to 25/5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2025-09-07T19:48:56Z</dcterms:created>
  <dc:creator>Zhao, Stephanie</dc:creator>
</cp:coreProperties>
</file>