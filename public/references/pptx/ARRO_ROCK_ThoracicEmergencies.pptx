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9FD04-7F3D-48CB-AC08-07675C83CE5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98844-9655-42A7-AADF-9E9550808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6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E4F01-6B09-4502-A144-231B2AFD52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05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1618-23A9-3562-8128-F573CA76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E934E-864B-585F-D64F-1DAF01336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B2388-02CA-838E-444E-EBB507094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4684E-CEE8-ABC5-5036-853151914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E4F01-6B09-4502-A144-231B2AFD52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12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4A7D-99D5-64D2-4EDC-A9AC1C3A1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15EF9-4A32-BD08-FF3B-204160EFF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46B5-EF98-1C73-9BB5-852E38E6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8181-A8F3-9AF7-F623-DF8719E1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B69E-CAE5-1F2C-D3B0-1DBE8399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0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A0FE-5670-F6C7-127B-D0804ECA1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69ED6-E128-F158-9E8A-431BD62C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6002D-DAFA-10D6-721F-0295365C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058F4-3B16-4FFE-5C58-E7BB6086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4F749-C6C5-8D82-FBD1-39FC7291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98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F9BB-ECC8-FF86-2841-B3CEC68B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3C47-F499-E3C2-B9F8-F129327D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2416-2812-882D-4451-0166A3E4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9EA3A-FA41-CCA9-0F60-A9AB81A5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C100E-622D-59A6-AD3C-64473826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0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262B-027D-4EA9-A52F-90B255A74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1481-F862-0074-C818-B0CA030CA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8E4BC-47C0-4917-24E9-78A0BB1A5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84352-8455-5032-BD0F-5F5B7CD7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C3B4D-B236-F5A2-5E46-59C42568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EE5B2-372D-3D40-9BD9-89F33BE8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0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D54F-CEA9-46F3-51BD-0D280290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DB070-0CD5-FFD6-3818-E80555F30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275C8-F376-DE5B-0F32-6C8EAA609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125CA-0D54-C826-8A0B-3D1748188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41E85-BA1D-6567-50A6-6A5D80F0A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616F0-D3B3-3D34-7D44-5847F3FF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73E32-E54F-CBBA-2FB1-174D1159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05040-37F9-26BF-3E5A-EBCF0742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4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98C9-344A-E099-8CE0-F15A79C9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E3981-F486-1AA1-6982-205DE10F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C145F-8F8E-5711-B333-8C80D163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17922-E9E2-639B-679E-742DD63D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6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D8779-4AE7-F2F6-77A5-E6D8A649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432804-B051-8ADC-6086-8043386B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5783B-41F4-D21B-9E17-3E4EBE2C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3CF5-7412-7D33-EE1D-43E78F1D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B839-36B3-FBEB-3019-585EA3B2A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37F12-E087-2F29-6A5D-0F5E70EB7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DCB00-EE3F-A794-C4B8-F8CCA847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1FCB7-E3C0-C748-3E98-F98227E0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2E59A-6ED7-2857-C95A-7882F1DE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0C1D-5354-3738-1BC5-95415CEA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D93AA-D267-4159-0010-B1AF728E5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526E4-BFDE-5B39-1419-5EFF0ED99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4FBC7-FDD1-0051-77BC-20E44960A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637F5-6E81-3418-99F3-DB86B410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D8E39-7E55-4D22-AA3B-5617EAA6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93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4969-B235-12DD-02D4-A51FF78D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C7BB4-0E8E-C869-0A2E-1F5172059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C331F-F349-ACCF-2375-840988C3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58F91-711D-04FC-5563-09677DA3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3EE5-C0D5-E1AD-471D-19A3B340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8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9F341-C829-CA53-6CBD-F9DEA38D3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5ACC5-FFF9-D10B-E43B-32E58329D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B0AC3-2FB8-5740-333D-A126B7BE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E8986-2E9B-AE18-7980-D6244F0F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CF583-92EB-93A0-9C87-4408E18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3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813CB-0108-BD15-D62A-D89BE51A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651D1-0A0F-D539-33D1-9F48EF2F5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067A-5638-BBA6-6146-8793E23C9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CEEF8-0225-4742-B46C-3629E0F815B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7A95-7E9F-FE40-A5EE-3B1C29A2F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6A00-3F6E-C124-A08D-3273F0E76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1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DA1711-F219-4B70-C330-1E4BDEDDE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4" y="1334530"/>
            <a:ext cx="7735755" cy="4808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B2D485-3DC3-B3E4-9AE4-2518C72D4600}"/>
              </a:ext>
            </a:extLst>
          </p:cNvPr>
          <p:cNvSpPr txBox="1"/>
          <p:nvPr/>
        </p:nvSpPr>
        <p:spPr>
          <a:xfrm>
            <a:off x="2710248" y="94779"/>
            <a:ext cx="6005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Hemoptysis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20D9E-D09D-DED8-733D-26A903497BA0}"/>
              </a:ext>
            </a:extLst>
          </p:cNvPr>
          <p:cNvSpPr txBox="1"/>
          <p:nvPr/>
        </p:nvSpPr>
        <p:spPr>
          <a:xfrm>
            <a:off x="90922" y="821044"/>
            <a:ext cx="763617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b="1" dirty="0"/>
              <a:t>Chief complaint: </a:t>
            </a:r>
            <a:r>
              <a:rPr lang="en-US" sz="1200" dirty="0"/>
              <a:t>coughing up blood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4F3AF-FE01-2AC0-34A6-938D65B33286}"/>
              </a:ext>
            </a:extLst>
          </p:cNvPr>
          <p:cNvSpPr txBox="1"/>
          <p:nvPr/>
        </p:nvSpPr>
        <p:spPr>
          <a:xfrm>
            <a:off x="7817708" y="821044"/>
            <a:ext cx="4254844" cy="603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Triage: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Assess hemodynamic stability and respiratory status (pulse ox, blood pressure, ability to clear airway on own). </a:t>
            </a:r>
          </a:p>
          <a:p>
            <a:pPr>
              <a:spcAft>
                <a:spcPts val="600"/>
              </a:spcAft>
            </a:pPr>
            <a:r>
              <a:rPr lang="en-US" sz="1100" i="1" dirty="0">
                <a:solidFill>
                  <a:schemeClr val="accent1"/>
                </a:solidFill>
              </a:rPr>
              <a:t>Massive hemoptysis typically involves tumor invasion of a major vessel and is often dramatic and quickly fatal.</a:t>
            </a:r>
          </a:p>
          <a:p>
            <a:pPr>
              <a:spcAft>
                <a:spcPts val="600"/>
              </a:spcAft>
            </a:pPr>
            <a:r>
              <a:rPr lang="en-US" sz="1100" i="1" dirty="0">
                <a:solidFill>
                  <a:schemeClr val="accent1"/>
                </a:solidFill>
              </a:rPr>
              <a:t>More frequently, seen as a small amount of bleeding in mucous or with coughing, representing tumor eroding into small intrapleural vessel or friable endobronchial tumor.</a:t>
            </a:r>
            <a:endParaRPr lang="en-US" sz="1100" b="1" dirty="0">
              <a:solidFill>
                <a:schemeClr val="accent1"/>
              </a:solidFill>
            </a:endParaRPr>
          </a:p>
          <a:p>
            <a:r>
              <a:rPr lang="en-US" sz="1100" b="1" dirty="0"/>
              <a:t>Workup: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History with attention to comorbidities, anti-coagulation (AC), cancer history, treatment history (</a:t>
            </a:r>
            <a:r>
              <a:rPr lang="en-US" sz="1100" u="sng" dirty="0"/>
              <a:t>central SBRT</a:t>
            </a:r>
            <a:r>
              <a:rPr lang="en-US" sz="1100" dirty="0"/>
              <a:t>?, </a:t>
            </a:r>
            <a:r>
              <a:rPr lang="en-US" sz="1100" u="sng" dirty="0"/>
              <a:t>bevacizumab</a:t>
            </a:r>
            <a:r>
              <a:rPr lang="en-US" sz="1100" dirty="0"/>
              <a:t>?), recent interventions (bronchoscopic biopsy). Quantify amount of bleeding, duration, progression. Lab work with CBC. CT Chest with contrast / CT Angio. Focused clinical exam.</a:t>
            </a:r>
          </a:p>
          <a:p>
            <a:pPr>
              <a:spcAft>
                <a:spcPts val="600"/>
              </a:spcAft>
            </a:pPr>
            <a:r>
              <a:rPr lang="en-US" sz="1100" b="1" dirty="0"/>
              <a:t>Management:</a:t>
            </a:r>
          </a:p>
          <a:p>
            <a:pPr>
              <a:spcAft>
                <a:spcPts val="600"/>
              </a:spcAft>
            </a:pPr>
            <a:r>
              <a:rPr lang="en-US" sz="1100" u="sng" dirty="0"/>
              <a:t>Medical</a:t>
            </a:r>
            <a:r>
              <a:rPr lang="en-US" sz="1100" dirty="0"/>
              <a:t>: Transfusion &gt; fluids if anemic or hemodynamically unstable, consider holding AC.</a:t>
            </a:r>
          </a:p>
          <a:p>
            <a:r>
              <a:rPr lang="en-US" sz="1100" u="sng" dirty="0"/>
              <a:t>Non-Radiation Intervention</a:t>
            </a:r>
            <a:r>
              <a:rPr lang="en-US" sz="1100" dirty="0"/>
              <a:t>: If non-life-threatening hemoptysis, then bronchoscopy (coordinate with interventional pulmonology team) is often required to establish diagnosis and exact location of bleeding.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Able to obtain path if new diagnosis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100" dirty="0"/>
              <a:t>Local therapeutic interventions available during bronchoscopy</a:t>
            </a:r>
            <a:endParaRPr lang="en-US" sz="1100" b="1" dirty="0"/>
          </a:p>
          <a:p>
            <a:r>
              <a:rPr lang="en-US" sz="1100" b="1" dirty="0"/>
              <a:t>Radiation Treatment: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Once acute bleeding is stabilized, RT can offer more durable control with aim of reducing risk of future bleeding.</a:t>
            </a:r>
          </a:p>
          <a:p>
            <a:pPr>
              <a:spcAft>
                <a:spcPts val="600"/>
              </a:spcAft>
            </a:pPr>
            <a:r>
              <a:rPr lang="en-US" sz="1100" u="sng" dirty="0"/>
              <a:t>Dose and Fractionation</a:t>
            </a:r>
            <a:r>
              <a:rPr lang="en-US" sz="1100" dirty="0"/>
              <a:t>: Definitive regimens if appropriate. Consider palliative regimens such as 8 Gy in 1 fx, 20 Gy in 5 fx, 30 Gy in 10 fx.</a:t>
            </a:r>
          </a:p>
          <a:p>
            <a:pPr>
              <a:spcAft>
                <a:spcPts val="600"/>
              </a:spcAft>
            </a:pPr>
            <a:r>
              <a:rPr lang="en-US" sz="1100" u="sng" dirty="0"/>
              <a:t>Expected Response and Durability</a:t>
            </a:r>
            <a:r>
              <a:rPr lang="en-US" sz="1100" dirty="0"/>
              <a:t>: Response rates &gt; 70% within period of days to weeks.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ED648-3B1A-84B4-CFE8-DFF70830D824}"/>
              </a:ext>
            </a:extLst>
          </p:cNvPr>
          <p:cNvSpPr/>
          <p:nvPr/>
        </p:nvSpPr>
        <p:spPr>
          <a:xfrm>
            <a:off x="74446" y="1268627"/>
            <a:ext cx="7644408" cy="549459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1EE60-C952-356E-F9EA-EF21F0759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2" y="60827"/>
            <a:ext cx="2999803" cy="7164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74AF6D-6F8F-BBA3-0B42-406F841B5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6984" y="53126"/>
            <a:ext cx="885568" cy="7296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904722-611B-A0FA-5278-8C895FF141DE}"/>
              </a:ext>
            </a:extLst>
          </p:cNvPr>
          <p:cNvSpPr txBox="1"/>
          <p:nvPr/>
        </p:nvSpPr>
        <p:spPr>
          <a:xfrm>
            <a:off x="7817708" y="215566"/>
            <a:ext cx="33198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Arthur M, Doss VL, Kozono D. Radiation Oncology On-Call Handbook: Hemoptysis. Association of Residents in Radiation Oncology. January 23</a:t>
            </a:r>
            <a:r>
              <a:rPr lang="en-US" sz="900" baseline="30000" dirty="0"/>
              <a:t>rd</a:t>
            </a:r>
            <a:r>
              <a:rPr lang="en-US" sz="900" dirty="0"/>
              <a:t>, 2026.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4A27CE-CED1-F886-E2E2-B348BFDA48A5}"/>
              </a:ext>
            </a:extLst>
          </p:cNvPr>
          <p:cNvSpPr txBox="1"/>
          <p:nvPr/>
        </p:nvSpPr>
        <p:spPr>
          <a:xfrm>
            <a:off x="114798" y="5181822"/>
            <a:ext cx="3122672" cy="15542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Sense of Urgency: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Massive hemoptysis </a:t>
            </a:r>
            <a:r>
              <a:rPr lang="en-US" sz="105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sz="1050" dirty="0">
                <a:solidFill>
                  <a:schemeClr val="tx2"/>
                </a:solidFill>
              </a:rPr>
              <a:t> emergent (non-radiation)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Stable, but requiring inpatient management and transfusions or increasing volume of hemoptysis </a:t>
            </a:r>
            <a:r>
              <a:rPr lang="en-US" sz="105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sz="1050" dirty="0">
                <a:solidFill>
                  <a:schemeClr val="tx2"/>
                </a:solidFill>
              </a:rPr>
              <a:t> urgent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Small volume (blood-tinged mucous), stable, outpatient setting </a:t>
            </a:r>
            <a:r>
              <a:rPr lang="en-US" sz="105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sz="1050" dirty="0">
                <a:solidFill>
                  <a:schemeClr val="tx2"/>
                </a:solidFill>
              </a:rPr>
              <a:t> non-urgent, typical outpatient timeline</a:t>
            </a:r>
          </a:p>
        </p:txBody>
      </p:sp>
    </p:spTree>
    <p:extLst>
      <p:ext uri="{BB962C8B-B14F-4D97-AF65-F5344CB8AC3E}">
        <p14:creationId xmlns:p14="http://schemas.microsoft.com/office/powerpoint/2010/main" val="326479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9A62-ABB3-9953-0D43-31C2311F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14E51-0399-07F5-E924-8C5C38245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355"/>
            <a:ext cx="7528137" cy="51258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7A465A-0A69-6F01-FCCE-3232C29D192C}"/>
              </a:ext>
            </a:extLst>
          </p:cNvPr>
          <p:cNvSpPr txBox="1"/>
          <p:nvPr/>
        </p:nvSpPr>
        <p:spPr>
          <a:xfrm>
            <a:off x="2710248" y="94779"/>
            <a:ext cx="6005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Airway Obstruction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1E05B-5C47-BB08-EFD2-9D2D152B1F37}"/>
              </a:ext>
            </a:extLst>
          </p:cNvPr>
          <p:cNvSpPr txBox="1"/>
          <p:nvPr/>
        </p:nvSpPr>
        <p:spPr>
          <a:xfrm>
            <a:off x="90922" y="772256"/>
            <a:ext cx="75116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Chief complaint: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shortness of breath, dyspnea with exertion, increased supplemental oxygen requirements, chest pain, post-obstructive pneumonia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ECD95-607F-231D-24EB-80AF2A3758B3}"/>
              </a:ext>
            </a:extLst>
          </p:cNvPr>
          <p:cNvSpPr txBox="1"/>
          <p:nvPr/>
        </p:nvSpPr>
        <p:spPr>
          <a:xfrm>
            <a:off x="7741919" y="804457"/>
            <a:ext cx="4359157" cy="5970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Triage: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Assess respiratory status (need for supplemental oxygen).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Workup: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History with attention to comorbidities and baseline pulmonary status, cancer history. Imaging with CT Chest +/- contrast. Focused physical exam. If new diagnosis, then (bronchoscopic) biopsy, consider lab work (CBC, LDH, AFP,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β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-HCG) if anterior mediastinal mass.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Management: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Medical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Chemotherapy is the primary initial treatment for lymphomas, germ cell tumors, and SCLC.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Non-Radiation Intervention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Patients with unstable respiratory status often require initial procedural intervention, such as bronchoscopy with stenting or laser ablation as a faster means of intervention.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non-emergent airway situations, discuss multidisciplinary care with interventional pulmonology for possible airway stenting, endobronchial tumor resection/laser ablation prior to RT.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Radiation Treatment: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Most effective after primary intervention (stenting, laser ablation) for reducing risk of re-obstruction from tumor progression.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Dose and Fractionation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Definitive regimens if appropriate (new diagnosis, localized). Consider palliative regimens such as 8 Gy in 1 fx, 20 Gy in 5 fx, 30 Gy in 10 fx, 17 Gy in 2 fx (once weekly).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Additional considerations: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Monitor for change in positioning of stent throughout treatment (seen on CBCT), consider adaptive plan if improvement in aeration during treatment.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Response and Durability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Palliative interventions without stenting/laser ablation have low rates of re-aeration (13 – 23%), especially if obstruction &gt;48 hours. However, up to 60% experience improvement in dyspnea.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81AE71-CA57-DD69-BCF5-1B9AA3A83D72}"/>
              </a:ext>
            </a:extLst>
          </p:cNvPr>
          <p:cNvSpPr/>
          <p:nvPr/>
        </p:nvSpPr>
        <p:spPr>
          <a:xfrm>
            <a:off x="74445" y="1294754"/>
            <a:ext cx="7528137" cy="547185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B61681-3330-9963-6831-291526682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2" y="53126"/>
            <a:ext cx="2999803" cy="7164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02E88A-BCB4-927D-61A3-D7F970EDF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6984" y="53126"/>
            <a:ext cx="885568" cy="7296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1CC7DB-BFAB-7BB0-DFF0-84F5E6D2F8B9}"/>
              </a:ext>
            </a:extLst>
          </p:cNvPr>
          <p:cNvSpPr txBox="1"/>
          <p:nvPr/>
        </p:nvSpPr>
        <p:spPr>
          <a:xfrm>
            <a:off x="7875373" y="206840"/>
            <a:ext cx="30727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Aptos" panose="02110004020202020204"/>
              </a:rPr>
              <a:t>Arthur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M, Doss VL, Kozono D. Radiation Oncology On-Call Handbook: Airway Obstruction. Association of Residents in Radiation Oncology. January 23</a:t>
            </a:r>
            <a:r>
              <a:rPr kumimoji="0" lang="en-US" sz="9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2026.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D2BBB9-D5CF-7AED-D73C-25D04C8C5DB6}"/>
              </a:ext>
            </a:extLst>
          </p:cNvPr>
          <p:cNvSpPr txBox="1"/>
          <p:nvPr/>
        </p:nvSpPr>
        <p:spPr>
          <a:xfrm>
            <a:off x="4724400" y="1379364"/>
            <a:ext cx="2743200" cy="1400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Obstructive Thoracic Mass Oncology Differential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Primary lung cancer (NSCLC, SCLC), metastatic disease, other mediastinal tumors (lymphoma, thyroid, thymoma, teratoma)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 most significant when there is obstruction of proximal airways (primary and secondary bronchi)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72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707</Words>
  <Application>Microsoft Macintosh PowerPoint</Application>
  <PresentationFormat>Widescreen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Doss</dc:creator>
  <cp:lastModifiedBy>Neibart, Shane S.,MD, MS</cp:lastModifiedBy>
  <cp:revision>4</cp:revision>
  <dcterms:created xsi:type="dcterms:W3CDTF">2025-12-04T20:20:32Z</dcterms:created>
  <dcterms:modified xsi:type="dcterms:W3CDTF">2026-01-28T15:35:32Z</dcterms:modified>
</cp:coreProperties>
</file>