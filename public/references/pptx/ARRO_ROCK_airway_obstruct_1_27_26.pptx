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29FD04-7F3D-48CB-AC08-07675C83CE56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798844-9655-42A7-AADF-9E9550808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86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1618-23A9-3562-8128-F573CA76C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E934E-864B-585F-D64F-1DAF013361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B2388-02CA-838E-444E-EBB507094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4684E-CEE8-ABC5-5036-8531519143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8E4F01-6B09-4502-A144-231B2AFD529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512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24A7D-99D5-64D2-4EDC-A9AC1C3A15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15EF9-4A32-BD08-FF3B-204160EFF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AD46B5-EF98-1C73-9BB5-852E38E62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168181-A8F3-9AF7-F623-DF8719E13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5B69E-CAE5-1F2C-D3B0-1DBE83996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04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4A0FE-5670-F6C7-127B-D0804ECA1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69ED6-E128-F158-9E8A-431BD62CC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46002D-DAFA-10D6-721F-0295365C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058F4-3B16-4FFE-5C58-E7BB6086B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4F749-C6C5-8D82-FBD1-39FC7291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98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F9BB-ECC8-FF86-2841-B3CEC68BC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A3C47-F499-E3C2-B9F8-F129327DD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42416-2812-882D-4451-0166A3E4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9EA3A-FA41-CCA9-0F60-A9AB81A5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C100E-622D-59A6-AD3C-64473826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205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2262B-027D-4EA9-A52F-90B255A74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11481-F862-0074-C818-B0CA030CA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8E4BC-47C0-4917-24E9-78A0BB1A5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84352-8455-5032-BD0F-5F5B7CD7D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C3B4D-B236-F5A2-5E46-59C42568C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EE5B2-372D-3D40-9BD9-89F33BE8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008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0D54F-CEA9-46F3-51BD-0D2802906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DB070-0CD5-FFD6-3818-E80555F30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C275C8-F376-DE5B-0F32-6C8EAA609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9125CA-0D54-C826-8A0B-3D1748188E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E41E85-BA1D-6567-50A6-6A5D80F0A3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616F0-D3B3-3D34-7D44-5847F3FF5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F73E32-E54F-CBBA-2FB1-174D1159C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05040-37F9-26BF-3E5A-EBCF0742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54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B98C9-344A-E099-8CE0-F15A79C9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4E3981-F486-1AA1-6982-205DE10F0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C145F-8F8E-5711-B333-8C80D163E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F17922-E9E2-639B-679E-742DD63D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862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7D8779-4AE7-F2F6-77A5-E6D8A649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432804-B051-8ADC-6086-8043386B5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5783B-41F4-D21B-9E17-3E4EBE2C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89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A3CF5-7412-7D33-EE1D-43E78F1DD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3B839-36B3-FBEB-3019-585EA3B2A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37F12-E087-2F29-6A5D-0F5E70EB74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DCB00-EE3F-A794-C4B8-F8CCA8475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11FCB7-E3C0-C748-3E98-F98227E01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82E59A-6ED7-2857-C95A-7882F1DE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80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10C1D-5354-3738-1BC5-95415CEA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CD93AA-D267-4159-0010-B1AF728E5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526E4-BFDE-5B39-1419-5EFF0ED995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F4FBC7-FDD1-0051-77BC-20E44960A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637F5-6E81-3418-99F3-DB86B4101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D8E39-7E55-4D22-AA3B-5617EAA6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293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44969-B235-12DD-02D4-A51FF78DA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8C7BB4-0E8E-C869-0A2E-1F51720594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C331F-F349-ACCF-2375-840988C3A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58F91-711D-04FC-5563-09677DA37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43EE5-C0D5-E1AD-471D-19A3B3406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8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09F341-C829-CA53-6CBD-F9DEA38D3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15ACC5-FFF9-D10B-E43B-32E58329D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B0AC3-2FB8-5740-333D-A126B7BE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CEEF8-0225-4742-B46C-3629E0F815B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7E8986-2E9B-AE18-7980-D6244F0F4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CF583-92EB-93A0-9C87-4408E18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632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D813CB-0108-BD15-D62A-D89BE51A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C651D1-0A0F-D539-33D1-9F48EF2F5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8067A-5638-BBA6-6146-8793E23C9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CEEF8-0225-4742-B46C-3629E0F815B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47A95-7E9F-FE40-A5EE-3B1C29A2F4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D6A00-3F6E-C124-A08D-3273F0E76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6D6D5-D3DB-4B6D-80CF-9D9EB52A17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1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9A62-ABB3-9953-0D43-31C2311F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14E51-0399-07F5-E924-8C5C38245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7355"/>
            <a:ext cx="7528137" cy="51258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7A465A-0A69-6F01-FCCE-3232C29D192C}"/>
              </a:ext>
            </a:extLst>
          </p:cNvPr>
          <p:cNvSpPr txBox="1"/>
          <p:nvPr/>
        </p:nvSpPr>
        <p:spPr>
          <a:xfrm>
            <a:off x="2710248" y="94779"/>
            <a:ext cx="6005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Airway Obstruction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E1E05B-5C47-BB08-EFD2-9D2D152B1F37}"/>
              </a:ext>
            </a:extLst>
          </p:cNvPr>
          <p:cNvSpPr txBox="1"/>
          <p:nvPr/>
        </p:nvSpPr>
        <p:spPr>
          <a:xfrm>
            <a:off x="90922" y="772256"/>
            <a:ext cx="751166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Chief complaint: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shortness of breath, dyspnea with exertion, increased supplemental oxygen requirements, chest pain, post-obstructive pneumonia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5ECD95-607F-231D-24EB-80AF2A3758B3}"/>
              </a:ext>
            </a:extLst>
          </p:cNvPr>
          <p:cNvSpPr txBox="1"/>
          <p:nvPr/>
        </p:nvSpPr>
        <p:spPr>
          <a:xfrm>
            <a:off x="7741919" y="804457"/>
            <a:ext cx="4359157" cy="59708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Triage: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Assess respiratory status (need for supplemental oxygen).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Workup: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History with attention to comorbidities and baseline pulmonary status, cancer history. Imaging with CT Chest +/- contrast. Focused physical exam. If new diagnosis, then (bronchoscopic) biopsy, consider lab work (CBC, LDH, AFP, </a:t>
            </a:r>
            <a:r>
              <a:rPr kumimoji="0" lang="el-G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β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-HCG) if anterior mediastinal mass.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Management: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Medical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Chemotherapy is the primary initial treatment for lymphomas, germ cell tumors, and SCLC.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Non-Radiation Intervention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Patients with unstable respiratory status often require initial procedural intervention, such as bronchoscopy with stenting or laser ablation as a faster means of intervention.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non-emergent airway situations, discuss multidisciplinary care with interventional pulmonology for possible airway stenting, endobronchial tumor resection/laser ablation prior to RT.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Radiation Treatment: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Most effective after primary intervention (stenting, laser ablation) for reducing risk of re-obstruction from tumor progression.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Dose and Fractionation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Definitive regimens if appropriate (new diagnosis, localized). Consider palliative regimens such as 8 Gy in 1 fx, 20 Gy in 5 fx, 30 Gy in 10 fx, 17 Gy in 2 fx (once weekly).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Additional considerations: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Monitor for change in positioning of stent throughout treatment (seen on CBCT), consider adaptive plan if improvement in aeration during treatment.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Expected Response and Durability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Palliative interventions without stenting/laser ablation have low rates of re-aeration (13 – 23%), especially if obstruction &gt;48 hours. However, up to 60% experience improvement in dyspnea.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81AE71-CA57-DD69-BCF5-1B9AA3A83D72}"/>
              </a:ext>
            </a:extLst>
          </p:cNvPr>
          <p:cNvSpPr/>
          <p:nvPr/>
        </p:nvSpPr>
        <p:spPr>
          <a:xfrm>
            <a:off x="74445" y="1294754"/>
            <a:ext cx="7528137" cy="547185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B61681-3330-9963-6831-291526682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22" y="53126"/>
            <a:ext cx="2999803" cy="71649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E02E88A-BCB4-927D-61A3-D7F970EDF9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6984" y="53126"/>
            <a:ext cx="885568" cy="7296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1CC7DB-BFAB-7BB0-DFF0-84F5E6D2F8B9}"/>
              </a:ext>
            </a:extLst>
          </p:cNvPr>
          <p:cNvSpPr txBox="1"/>
          <p:nvPr/>
        </p:nvSpPr>
        <p:spPr>
          <a:xfrm>
            <a:off x="7875373" y="206840"/>
            <a:ext cx="307271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prstClr val="black"/>
                </a:solidFill>
                <a:latin typeface="Aptos" panose="02110004020202020204"/>
              </a:rPr>
              <a:t>Arthur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M, Doss VL, Kozono D. Radiation Oncology On-Call Handbook: Airway Obstruction. Association of Residents in Radiation Oncology. January 23</a:t>
            </a:r>
            <a:r>
              <a:rPr kumimoji="0" lang="en-US" sz="9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rd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2026.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D2BBB9-D5CF-7AED-D73C-25D04C8C5DB6}"/>
              </a:ext>
            </a:extLst>
          </p:cNvPr>
          <p:cNvSpPr txBox="1"/>
          <p:nvPr/>
        </p:nvSpPr>
        <p:spPr>
          <a:xfrm>
            <a:off x="4724400" y="1379364"/>
            <a:ext cx="2743200" cy="14003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1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Obstructive Thoracic Mass Oncology Differential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Primary lung cancer (NSCLC, SCLC), metastatic disease, other mediastinal tumors (lymphoma, thyroid, thymoma, teratoma)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Symptoms most significant when there is obstruction of proximal airways (primary and secondary bronchi)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8720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1236-DAF3-E382-8A17-AFA664F1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228565D-78A4-3431-A413-526B1FFACA5E}"/>
              </a:ext>
            </a:extLst>
          </p:cNvPr>
          <p:cNvSpPr txBox="1"/>
          <p:nvPr/>
        </p:nvSpPr>
        <p:spPr>
          <a:xfrm>
            <a:off x="448962" y="1930386"/>
            <a:ext cx="914400" cy="64008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45720" r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Patient presents with pulmonary obstruction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14172-DD6E-99D8-9625-0F1782F91F92}"/>
              </a:ext>
            </a:extLst>
          </p:cNvPr>
          <p:cNvSpPr txBox="1"/>
          <p:nvPr/>
        </p:nvSpPr>
        <p:spPr>
          <a:xfrm>
            <a:off x="1626343" y="1884666"/>
            <a:ext cx="1234440" cy="7315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45720" r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Assess: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Respiratory status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Need for supplemental O2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C28A9A-EDA6-1905-DD68-AD84352F069F}"/>
              </a:ext>
            </a:extLst>
          </p:cNvPr>
          <p:cNvSpPr txBox="1"/>
          <p:nvPr/>
        </p:nvSpPr>
        <p:spPr>
          <a:xfrm>
            <a:off x="2286737" y="1444433"/>
            <a:ext cx="988540" cy="255389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Unstable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F33F5-6A0B-718F-F0AE-67E410D3E7C7}"/>
              </a:ext>
            </a:extLst>
          </p:cNvPr>
          <p:cNvSpPr txBox="1"/>
          <p:nvPr/>
        </p:nvSpPr>
        <p:spPr>
          <a:xfrm>
            <a:off x="2352543" y="2798521"/>
            <a:ext cx="988540" cy="255389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Stable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38F49F-5105-8138-B370-F7640AA37592}"/>
              </a:ext>
            </a:extLst>
          </p:cNvPr>
          <p:cNvSpPr txBox="1"/>
          <p:nvPr/>
        </p:nvSpPr>
        <p:spPr>
          <a:xfrm>
            <a:off x="3341085" y="695946"/>
            <a:ext cx="1577427" cy="118872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45720" r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Emergent non-radiation management: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Airway management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Bronchoscopy with stenting, laser ablation, endobronchial tumor resection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362E5C-BC1E-9553-7270-B4ED1CB3B094}"/>
              </a:ext>
            </a:extLst>
          </p:cNvPr>
          <p:cNvSpPr txBox="1"/>
          <p:nvPr/>
        </p:nvSpPr>
        <p:spPr>
          <a:xfrm>
            <a:off x="3341084" y="2116827"/>
            <a:ext cx="1577427" cy="182880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45720" r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Workup: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History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Comorbidities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Pulmonary baseline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Cancer diagnoses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Imaging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CT Chest +/- contrast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Labs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Biopsy if new diagnosis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CBC, TSH, LDH, AFP, </a:t>
            </a:r>
            <a:r>
              <a:rPr kumimoji="0" lang="el-G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β</a:t>
            </a: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-HCG if new anterior mediastinal mass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B1B8E6-D51A-2BE4-6F1E-B9F01567F908}"/>
              </a:ext>
            </a:extLst>
          </p:cNvPr>
          <p:cNvSpPr txBox="1"/>
          <p:nvPr/>
        </p:nvSpPr>
        <p:spPr>
          <a:xfrm>
            <a:off x="5275371" y="2832572"/>
            <a:ext cx="988540" cy="40862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45720" r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Obstructive Malignancy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92392F-6BCC-F392-87C9-C34062FF2143}"/>
              </a:ext>
            </a:extLst>
          </p:cNvPr>
          <p:cNvSpPr txBox="1"/>
          <p:nvPr/>
        </p:nvSpPr>
        <p:spPr>
          <a:xfrm>
            <a:off x="6527469" y="3309121"/>
            <a:ext cx="1577427" cy="109728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45720" rIns="4572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Coordination with interventional pulm for potential bronchoscopy: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Stent placement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Laser ablation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Endobronchial resection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75446E-A43A-FE22-F19F-E4CAB23D48C1}"/>
              </a:ext>
            </a:extLst>
          </p:cNvPr>
          <p:cNvSpPr txBox="1"/>
          <p:nvPr/>
        </p:nvSpPr>
        <p:spPr>
          <a:xfrm>
            <a:off x="6096000" y="4655082"/>
            <a:ext cx="2048054" cy="132802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45720" r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Radiation Therapy: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Consider definitive regimen if new diagnosis, locally advanced disease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Palliative regimens (EBRT):</a:t>
            </a:r>
          </a:p>
          <a:p>
            <a:pPr marL="461963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 Gy/1fx</a:t>
            </a:r>
          </a:p>
          <a:p>
            <a:pPr marL="461963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20 Gy/5fx</a:t>
            </a:r>
          </a:p>
          <a:p>
            <a:pPr marL="461963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30 Gy/10fx</a:t>
            </a:r>
          </a:p>
          <a:p>
            <a:pPr marL="461963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17 Gy/2fx (once weekly)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893F46-4643-B39A-DC88-724E4860602E}"/>
              </a:ext>
            </a:extLst>
          </p:cNvPr>
          <p:cNvSpPr txBox="1"/>
          <p:nvPr/>
        </p:nvSpPr>
        <p:spPr>
          <a:xfrm>
            <a:off x="595596" y="4295541"/>
            <a:ext cx="2076652" cy="1691640"/>
          </a:xfrm>
          <a:prstGeom prst="round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 lIns="45720" r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Expect: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Best response if RT combined with procedural intervention (stenting)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palliative RT alone, 13-23% re-aeration rate</a:t>
            </a:r>
          </a:p>
          <a:p>
            <a:pPr marL="461963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Worst re-aeration rates when &gt;48 hrs obstruction</a:t>
            </a:r>
          </a:p>
          <a:p>
            <a:pPr marL="461963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Response over period of weeks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Up to 60% report improvement in dyspnea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23722D-B54D-BDA6-1F09-E3FA684282A5}"/>
              </a:ext>
            </a:extLst>
          </p:cNvPr>
          <p:cNvSpPr txBox="1"/>
          <p:nvPr/>
        </p:nvSpPr>
        <p:spPr>
          <a:xfrm>
            <a:off x="5171630" y="2312640"/>
            <a:ext cx="1092281" cy="408623"/>
          </a:xfrm>
          <a:prstGeom prst="roundRect">
            <a:avLst/>
          </a:prstGeom>
          <a:noFill/>
          <a:ln>
            <a:noFill/>
          </a:ln>
        </p:spPr>
        <p:txBody>
          <a:bodyPr wrap="square" lIns="45720" r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Lymphoma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Germ Cell Tumor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SCLC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A51A55-BE22-E6CA-5D0D-13A3441CDE06}"/>
              </a:ext>
            </a:extLst>
          </p:cNvPr>
          <p:cNvSpPr txBox="1"/>
          <p:nvPr/>
        </p:nvSpPr>
        <p:spPr>
          <a:xfrm>
            <a:off x="6527469" y="2207563"/>
            <a:ext cx="1092281" cy="408623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45720" r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Chemotherapy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93B94C-77B2-1345-F6FA-09A056C4A7C3}"/>
              </a:ext>
            </a:extLst>
          </p:cNvPr>
          <p:cNvSpPr txBox="1"/>
          <p:nvPr/>
        </p:nvSpPr>
        <p:spPr>
          <a:xfrm>
            <a:off x="3030214" y="4287524"/>
            <a:ext cx="2781323" cy="1691640"/>
          </a:xfrm>
          <a:prstGeom prst="round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 lIns="45720" r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Considerations: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Longer courses associated with greater duration of benefit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Shorter courses minimize time of unstable pt in dept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Stent displacement (check CBCT)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Need for adaptive plan if improvements in aeration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Monitor for post-obstructive pneumonia symptoms and need for antibiotics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B1F262-2CC0-8885-9078-BA19B9D3E855}"/>
              </a:ext>
            </a:extLst>
          </p:cNvPr>
          <p:cNvSpPr txBox="1"/>
          <p:nvPr/>
        </p:nvSpPr>
        <p:spPr>
          <a:xfrm>
            <a:off x="5275371" y="3364979"/>
            <a:ext cx="1092281" cy="408623"/>
          </a:xfrm>
          <a:prstGeom prst="roundRect">
            <a:avLst/>
          </a:prstGeom>
          <a:noFill/>
          <a:ln>
            <a:noFill/>
          </a:ln>
        </p:spPr>
        <p:txBody>
          <a:bodyPr wrap="square" lIns="45720" r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NSCLC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Metastatic Dz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21E2A5-A29F-C494-FF99-EA4CBEA79E6C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1363362" y="2250426"/>
            <a:ext cx="2629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9091B86-D70F-4D73-66B0-88884356FF17}"/>
              </a:ext>
            </a:extLst>
          </p:cNvPr>
          <p:cNvCxnSpPr>
            <a:stCxn id="5" idx="3"/>
            <a:endCxn id="8" idx="1"/>
          </p:cNvCxnSpPr>
          <p:nvPr/>
        </p:nvCxnSpPr>
        <p:spPr>
          <a:xfrm flipV="1">
            <a:off x="2860783" y="1290306"/>
            <a:ext cx="480302" cy="96012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6E9D2AB6-1F96-FE1B-FE77-A243F0998260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2860783" y="2250426"/>
            <a:ext cx="480301" cy="78080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7A2D8F7-8F18-E06B-7F31-DC49FA7C1BD8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4918511" y="3031227"/>
            <a:ext cx="346886" cy="1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5A0F53A5-E84F-526A-7A4B-CE48094FBA9F}"/>
              </a:ext>
            </a:extLst>
          </p:cNvPr>
          <p:cNvCxnSpPr>
            <a:endCxn id="17" idx="1"/>
          </p:cNvCxnSpPr>
          <p:nvPr/>
        </p:nvCxnSpPr>
        <p:spPr>
          <a:xfrm rot="5400000" flipH="1" flipV="1">
            <a:off x="6202367" y="2473419"/>
            <a:ext cx="386646" cy="2635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FFF2E2A4-0348-4A06-C784-7D3D3389F40B}"/>
              </a:ext>
            </a:extLst>
          </p:cNvPr>
          <p:cNvCxnSpPr>
            <a:endCxn id="11" idx="1"/>
          </p:cNvCxnSpPr>
          <p:nvPr/>
        </p:nvCxnSpPr>
        <p:spPr>
          <a:xfrm rot="16200000" flipH="1">
            <a:off x="6121370" y="3451662"/>
            <a:ext cx="548640" cy="26355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775A86E-BF16-9929-F694-8AE78AE8019B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7120027" y="4406401"/>
            <a:ext cx="0" cy="2486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D3B14C3-DBD6-2A8F-8212-79D0E89CD9E4}"/>
              </a:ext>
            </a:extLst>
          </p:cNvPr>
          <p:cNvCxnSpPr>
            <a:cxnSpLocks/>
          </p:cNvCxnSpPr>
          <p:nvPr/>
        </p:nvCxnSpPr>
        <p:spPr>
          <a:xfrm flipH="1" flipV="1">
            <a:off x="5811537" y="5249425"/>
            <a:ext cx="28446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D44D6EB-E630-5E1E-969E-D32E304E8CC1}"/>
              </a:ext>
            </a:extLst>
          </p:cNvPr>
          <p:cNvCxnSpPr>
            <a:stCxn id="18" idx="1"/>
            <a:endCxn id="14" idx="3"/>
          </p:cNvCxnSpPr>
          <p:nvPr/>
        </p:nvCxnSpPr>
        <p:spPr>
          <a:xfrm flipH="1">
            <a:off x="2672248" y="5133344"/>
            <a:ext cx="357966" cy="8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187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586</Words>
  <Application>Microsoft Office PowerPoint</Application>
  <PresentationFormat>Widescreen</PresentationFormat>
  <Paragraphs>71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Johns Hopkins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Victoria Doss</dc:creator>
  <cp:lastModifiedBy>Victoria Doss</cp:lastModifiedBy>
  <cp:revision>3</cp:revision>
  <dcterms:created xsi:type="dcterms:W3CDTF">2025-12-04T20:20:32Z</dcterms:created>
  <dcterms:modified xsi:type="dcterms:W3CDTF">2026-01-28T15:19:30Z</dcterms:modified>
</cp:coreProperties>
</file>